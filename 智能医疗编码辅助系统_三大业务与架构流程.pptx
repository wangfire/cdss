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38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789920" cy="7315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微软雅黑" panose="020B0503020204020204" charset="-122"/>
              </a:rPr>
              <a:t>智能医疗编码辅助系统</a:t>
            </a:r>
            <a:endParaRPr sz="3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176272"/>
            <a:ext cx="10789920" cy="460375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2400" b="0">
                <a:solidFill>
                  <a:srgbClr val="C4DCF2"/>
                </a:solidFill>
                <a:latin typeface="微软雅黑" panose="020B0503020204020204" charset="-122"/>
              </a:rPr>
              <a:t>完整方案</a:t>
            </a:r>
            <a:endParaRPr sz="2400" b="0">
              <a:solidFill>
                <a:srgbClr val="C4DCF2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3063240"/>
            <a:ext cx="996696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 panose="020B0503020204020204" charset="-122"/>
              </a:rPr>
              <a:t>智能编码推荐  ｜  全病历智能质控  ｜  Agent智能分析</a:t>
            </a:r>
            <a:endParaRPr sz="1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3703320"/>
            <a:ext cx="996696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300" b="0">
                <a:solidFill>
                  <a:srgbClr val="C8D7E6"/>
                </a:solidFill>
                <a:latin typeface="微软雅黑" panose="020B0503020204020204" charset="-122"/>
              </a:rPr>
              <a:t>医疗大模型 + 医学知识库 + RAG + 编码规则 + Agent</a:t>
            </a:r>
            <a:endParaRPr sz="1300" b="0">
              <a:solidFill>
                <a:srgbClr val="C8D7E6"/>
              </a:solidFill>
              <a:latin typeface="微软雅黑" panose="020B0503020204020204" charset="-122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9319260" y="5581015"/>
            <a:ext cx="1871980" cy="3835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lang="en-US" sz="1900" b="1">
                <a:solidFill>
                  <a:srgbClr val="FFFFFF"/>
                </a:solidFill>
                <a:latin typeface="微软雅黑" panose="020B0503020204020204" charset="-122"/>
              </a:rPr>
              <a:t>2026.09.09</a:t>
            </a:r>
            <a:endParaRPr lang="en-US" sz="1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16385C"/>
                </a:solidFill>
                <a:latin typeface="微软雅黑" panose="020B0503020204020204" charset="-122"/>
              </a:rPr>
              <a:t>一、为什么要建设：传统编码模式正在遇到“四难”</a:t>
            </a:r>
            <a:endParaRPr sz="27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5C6875"/>
                </a:solidFill>
                <a:latin typeface="微软雅黑" panose="020B0503020204020204" charset="-122"/>
              </a:rPr>
              <a:t>从人工查找、经验判断、固定规则，升级到全病历语义理解与AI辅助决策</a:t>
            </a:r>
            <a:endParaRPr sz="11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914400" cy="54864"/>
          </a:xfrm>
          <a:prstGeom prst="rect">
            <a:avLst/>
          </a:prstGeom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r"/>
            <a:r>
              <a:rPr sz="900" b="0">
                <a:solidFill>
                  <a:srgbClr val="5C6875"/>
                </a:solidFill>
                <a:latin typeface="微软雅黑" panose="020B0503020204020204" charset="-122"/>
              </a:rPr>
              <a:t>02</a:t>
            </a:r>
            <a:endParaRPr sz="9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606040" cy="640080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人工工作量大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2212848"/>
            <a:ext cx="2606040" cy="18288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需要在出院记录、病程、手术、检验检查等大量内容中提取有效信息</a:t>
            </a:r>
            <a:endParaRPr sz="1300" b="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29000" y="1508760"/>
            <a:ext cx="2606040" cy="640080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依赖个人经验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29000" y="2212848"/>
            <a:ext cx="2606040" cy="18288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疾病名称、部位、严重程度、并发症等需要综合判断</a:t>
            </a:r>
            <a:endParaRPr sz="1300" b="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2606040" cy="640080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关键词匹配局限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3640" y="2212848"/>
            <a:ext cx="2606040" cy="18288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简称、俗称、同义词、复杂疾病组合难以准确识别</a:t>
            </a:r>
            <a:endParaRPr sz="1300" b="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098280" y="1508760"/>
            <a:ext cx="2606040" cy="640080"/>
          </a:xfrm>
          <a:prstGeom prst="roundRect">
            <a:avLst/>
          </a:prstGeom>
          <a:solidFill>
            <a:srgbClr val="C04949"/>
          </a:solidFill>
          <a:ln w="12700">
            <a:solidFill>
              <a:srgbClr val="C0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全病历利用不足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098280" y="2212848"/>
            <a:ext cx="2606040" cy="18288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真正决定编码的信息往往分散在多类医疗文档中</a:t>
            </a:r>
            <a:endParaRPr sz="1300" b="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0"/>
            <a:ext cx="182880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6385C"/>
                </a:solidFill>
                <a:latin typeface="微软雅黑" panose="020B0503020204020204" charset="-122"/>
              </a:rPr>
              <a:t>核心转变</a:t>
            </a:r>
            <a:endParaRPr sz="14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40280" y="4480560"/>
            <a:ext cx="5486400" cy="59436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6385C"/>
                </a:solidFill>
                <a:latin typeface="微软雅黑" panose="020B0503020204020204" charset="-122"/>
              </a:rPr>
              <a:t>单条诊断编码  →  全病历智能分析</a:t>
            </a:r>
            <a:endParaRPr sz="20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5394960"/>
            <a:ext cx="106984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400" b="0">
                <a:solidFill>
                  <a:srgbClr val="5C6875"/>
                </a:solidFill>
                <a:latin typeface="微软雅黑" panose="020B0503020204020204" charset="-122"/>
              </a:rPr>
              <a:t>目标不是替代编码人员，而是把人员从重复检索中解放出来，聚焦复杂病例判断与最终审核。</a:t>
            </a:r>
            <a:endParaRPr sz="14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16385C"/>
                </a:solidFill>
                <a:latin typeface="微软雅黑" panose="020B0503020204020204" charset="-122"/>
              </a:rPr>
              <a:t>二、我们建设什么：一个平台、三大业务、一个闭环</a:t>
            </a:r>
            <a:endParaRPr sz="27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5C6875"/>
                </a:solidFill>
                <a:latin typeface="微软雅黑" panose="020B0503020204020204" charset="-122"/>
              </a:rPr>
              <a:t>三大业务共享统一的数据、知识、AI与规则底座</a:t>
            </a:r>
            <a:endParaRPr sz="11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914400" cy="54864"/>
          </a:xfrm>
          <a:prstGeom prst="rect">
            <a:avLst/>
          </a:prstGeom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r"/>
            <a:r>
              <a:rPr sz="900" b="0">
                <a:solidFill>
                  <a:srgbClr val="5C6875"/>
                </a:solidFill>
                <a:latin typeface="微软雅黑" panose="020B0503020204020204" charset="-122"/>
              </a:rPr>
              <a:t>03</a:t>
            </a:r>
            <a:endParaRPr sz="9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57600" y="1234440"/>
            <a:ext cx="4846320" cy="640080"/>
          </a:xfrm>
          <a:prstGeom prst="roundRect">
            <a:avLst/>
          </a:prstGeom>
          <a:solidFill>
            <a:srgbClr val="16385C"/>
          </a:solidFill>
          <a:ln w="12700">
            <a:solidFill>
              <a:srgbClr val="1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panose="020B0503020204020204" charset="-122"/>
              </a:rPr>
              <a:t>智能医疗编码辅助平台</a:t>
            </a:r>
            <a:endParaRPr sz="2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 flipH="1">
            <a:off x="2011680" y="1874519"/>
            <a:ext cx="4069080" cy="521209"/>
          </a:xfrm>
          <a:prstGeom prst="line">
            <a:avLst/>
          </a:prstGeom>
          <a:ln w="25400">
            <a:solidFill>
              <a:srgbClr val="2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94360" y="2395728"/>
            <a:ext cx="2834640" cy="685800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智能编码推荐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3154680"/>
            <a:ext cx="2834640" cy="1143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buClrTx/>
              <a:buSzTx/>
              <a:buFontTx/>
            </a:pPr>
            <a:r>
              <a:rPr sz="1400" b="0">
                <a:solidFill>
                  <a:srgbClr val="232B34"/>
                </a:solidFill>
                <a:latin typeface="微软雅黑" panose="020B0503020204020204" charset="-122"/>
              </a:rPr>
              <a:t>给出正确编码</a:t>
            </a:r>
            <a:br>
              <a:rPr sz="14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400">
                <a:solidFill>
                  <a:srgbClr val="232B34"/>
                </a:solidFill>
                <a:latin typeface="微软雅黑" panose="020B0503020204020204" charset="-122"/>
              </a:rPr>
              <a:t>“这个诊断应该编码什么？”</a:t>
            </a:r>
            <a:endParaRPr sz="14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 flipH="1">
            <a:off x="5897880" y="1874519"/>
            <a:ext cx="182880" cy="521209"/>
          </a:xfrm>
          <a:prstGeom prst="line">
            <a:avLst/>
          </a:prstGeom>
          <a:ln w="25400">
            <a:solidFill>
              <a:srgbClr val="1F8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80560" y="2395728"/>
            <a:ext cx="2834640" cy="685800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全病历智能质控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80560" y="3154680"/>
            <a:ext cx="2834640" cy="1143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buClrTx/>
              <a:buSzTx/>
              <a:buFontTx/>
            </a:pPr>
            <a:r>
              <a:rPr sz="1400" b="0">
                <a:solidFill>
                  <a:srgbClr val="232B34"/>
                </a:solidFill>
                <a:latin typeface="微软雅黑" panose="020B0503020204020204" charset="-122"/>
              </a:rPr>
              <a:t>发现编码问题</a:t>
            </a:r>
            <a:br>
              <a:rPr sz="14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400">
                <a:solidFill>
                  <a:srgbClr val="232B34"/>
                </a:solidFill>
                <a:latin typeface="微软雅黑" panose="020B0503020204020204" charset="-122"/>
              </a:rPr>
              <a:t>“这份病历哪里有问题？”</a:t>
            </a:r>
            <a:endParaRPr sz="14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1874519"/>
            <a:ext cx="3703320" cy="521209"/>
          </a:xfrm>
          <a:prstGeom prst="line">
            <a:avLst/>
          </a:prstGeom>
          <a:ln w="25400">
            <a:solidFill>
              <a:srgbClr val="E085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366760" y="2395728"/>
            <a:ext cx="2834640" cy="685800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Agent智能分析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3154680"/>
            <a:ext cx="2834640" cy="1143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buClrTx/>
              <a:buSzTx/>
              <a:buFontTx/>
            </a:pPr>
            <a:r>
              <a:rPr sz="1400" b="0">
                <a:solidFill>
                  <a:srgbClr val="232B34"/>
                </a:solidFill>
                <a:latin typeface="微软雅黑" panose="020B0503020204020204" charset="-122"/>
              </a:rPr>
              <a:t>主动寻找证据</a:t>
            </a:r>
            <a:br>
              <a:rPr sz="14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400">
                <a:solidFill>
                  <a:srgbClr val="232B34"/>
                </a:solidFill>
                <a:latin typeface="微软雅黑" panose="020B0503020204020204" charset="-122"/>
              </a:rPr>
              <a:t>“还有什么可能没编码？”</a:t>
            </a:r>
            <a:endParaRPr sz="14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291840" y="4617720"/>
            <a:ext cx="5577840" cy="59436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6385C"/>
                </a:solidFill>
                <a:latin typeface="微软雅黑" panose="020B0503020204020204" charset="-122"/>
              </a:rPr>
              <a:t>统一AI智能能力底座</a:t>
            </a:r>
            <a:endParaRPr sz="18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5394960"/>
            <a:ext cx="1033272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300" b="0">
                <a:solidFill>
                  <a:srgbClr val="5C6875"/>
                </a:solidFill>
                <a:latin typeface="微软雅黑" panose="020B0503020204020204" charset="-122"/>
              </a:rPr>
              <a:t>医疗大模型 ｜ 医学NLP ｜ RAG ｜ Hybrid Search ｜ Rerank ｜ 规则引擎 ｜ 证据链</a:t>
            </a:r>
            <a:endParaRPr sz="13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16385C"/>
                </a:solidFill>
                <a:latin typeface="微软雅黑" panose="020B0503020204020204" charset="-122"/>
              </a:rPr>
              <a:t>三、系统总体架构：五层架构 + AI分析编排</a:t>
            </a:r>
            <a:endParaRPr sz="27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5C6875"/>
                </a:solidFill>
                <a:latin typeface="微软雅黑" panose="020B0503020204020204" charset="-122"/>
              </a:rPr>
              <a:t>业务应用与AI能力解耦，三大业务统一复用数据、知识、检索与模型能力</a:t>
            </a:r>
            <a:endParaRPr sz="11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914400" cy="54864"/>
          </a:xfrm>
          <a:prstGeom prst="rect">
            <a:avLst/>
          </a:prstGeom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r"/>
            <a:r>
              <a:rPr sz="900" b="0">
                <a:solidFill>
                  <a:srgbClr val="5C6875"/>
                </a:solidFill>
                <a:latin typeface="微软雅黑" panose="020B0503020204020204" charset="-122"/>
              </a:rPr>
              <a:t>04</a:t>
            </a:r>
            <a:endParaRPr sz="9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298448"/>
            <a:ext cx="2057400" cy="658368"/>
          </a:xfrm>
          <a:prstGeom prst="roundRect">
            <a:avLst/>
          </a:prstGeom>
          <a:solidFill>
            <a:srgbClr val="16385C"/>
          </a:solidFill>
          <a:ln w="12700">
            <a:solidFill>
              <a:srgbClr val="1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用户层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834640" y="1298448"/>
            <a:ext cx="8686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0">
                <a:solidFill>
                  <a:srgbClr val="232B34"/>
                </a:solidFill>
                <a:latin typeface="微软雅黑" panose="020B0503020204020204" charset="-122"/>
              </a:rPr>
              <a:t>编码人员｜质控人员｜医务人员｜病案管理｜管理人员</a:t>
            </a:r>
            <a:endParaRPr sz="1200" b="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1645920" y="1956815"/>
            <a:ext cx="0" cy="283465"/>
          </a:xfrm>
          <a:prstGeom prst="line">
            <a:avLst/>
          </a:prstGeom>
          <a:ln w="1905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2258568"/>
            <a:ext cx="2057400" cy="658368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业务应用层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834640" y="2258568"/>
            <a:ext cx="8686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0">
                <a:solidFill>
                  <a:srgbClr val="232B34"/>
                </a:solidFill>
                <a:latin typeface="微软雅黑" panose="020B0503020204020204" charset="-122"/>
              </a:rPr>
              <a:t>智能编码推荐｜全病历智能质控｜Agent智能分析｜审核｜统计分析</a:t>
            </a:r>
            <a:endParaRPr sz="1200" b="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1645920" y="2916935"/>
            <a:ext cx="0" cy="283465"/>
          </a:xfrm>
          <a:prstGeom prst="line">
            <a:avLst/>
          </a:prstGeom>
          <a:ln w="1905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" y="3218688"/>
            <a:ext cx="2057400" cy="658368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AI智能分析层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834640" y="3218688"/>
            <a:ext cx="8686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0">
                <a:solidFill>
                  <a:srgbClr val="232B34"/>
                </a:solidFill>
                <a:latin typeface="微软雅黑" panose="020B0503020204020204" charset="-122"/>
              </a:rPr>
              <a:t>医学NLP｜实体识别｜术语标准化｜Query Rewrite｜Hybrid Search｜Rerank｜LLM｜Agent｜证据验证</a:t>
            </a:r>
            <a:endParaRPr sz="1200" b="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645920" y="3877056"/>
            <a:ext cx="0" cy="283464"/>
          </a:xfrm>
          <a:prstGeom prst="line">
            <a:avLst/>
          </a:prstGeom>
          <a:ln w="1905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4178808"/>
            <a:ext cx="2057400" cy="658368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医学知识层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834640" y="4178808"/>
            <a:ext cx="8686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0">
                <a:solidFill>
                  <a:srgbClr val="232B34"/>
                </a:solidFill>
                <a:latin typeface="微软雅黑" panose="020B0503020204020204" charset="-122"/>
              </a:rPr>
              <a:t>ICD-10｜ICD-9-CM-3｜医学术语｜同义词｜疾病关系｜编码规则｜质控规则｜历史案例</a:t>
            </a:r>
            <a:endParaRPr sz="1200" b="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1645920" y="4837176"/>
            <a:ext cx="0" cy="283464"/>
          </a:xfrm>
          <a:prstGeom prst="line">
            <a:avLst/>
          </a:prstGeom>
          <a:ln w="1905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0080" y="5138928"/>
            <a:ext cx="2057400" cy="658368"/>
          </a:xfrm>
          <a:prstGeom prst="roundRect">
            <a:avLst/>
          </a:prstGeom>
          <a:solidFill>
            <a:srgbClr val="448F5B"/>
          </a:solidFill>
          <a:ln w="12700">
            <a:solidFill>
              <a:srgbClr val="44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数据层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834640" y="5138928"/>
            <a:ext cx="86868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00" b="0">
                <a:solidFill>
                  <a:srgbClr val="232B34"/>
                </a:solidFill>
                <a:latin typeface="微软雅黑" panose="020B0503020204020204" charset="-122"/>
              </a:rPr>
              <a:t>患者｜就诊｜病历｜检验检查｜手术｜医嘱｜病案首页｜当前/历史编码</a:t>
            </a:r>
            <a:endParaRPr sz="1200" b="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32605" y="5961380"/>
            <a:ext cx="3526155" cy="512445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AI分析编排</a:t>
            </a:r>
            <a:br>
              <a:rPr sz="1000" b="1">
                <a:solidFill>
                  <a:srgbClr val="16385C"/>
                </a:solidFill>
                <a:latin typeface="微软雅黑" panose="020B0503020204020204" charset="-122"/>
              </a:rPr>
            </a:br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连接模型、知识库、检索服务与业务系统</a:t>
            </a:r>
            <a:endParaRPr sz="10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16385C"/>
                </a:solidFill>
                <a:latin typeface="微软雅黑" panose="020B0503020204020204" charset="-122"/>
              </a:rPr>
              <a:t>四、三大业务与系统架构的对应关系</a:t>
            </a:r>
            <a:endParaRPr sz="27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5C6875"/>
                </a:solidFill>
                <a:latin typeface="微软雅黑" panose="020B0503020204020204" charset="-122"/>
              </a:rPr>
              <a:t>不是三个孤立模块，而是三类业务共同调用统一AI能力，并通过人工审核形成最终闭环</a:t>
            </a:r>
            <a:endParaRPr sz="11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914400" cy="54864"/>
          </a:xfrm>
          <a:prstGeom prst="rect">
            <a:avLst/>
          </a:prstGeom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r"/>
            <a:r>
              <a:rPr sz="900" b="0">
                <a:solidFill>
                  <a:srgbClr val="5C6875"/>
                </a:solidFill>
                <a:latin typeface="微软雅黑" panose="020B0503020204020204" charset="-122"/>
              </a:rPr>
              <a:t>05</a:t>
            </a:r>
            <a:endParaRPr sz="9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502920" y="1325880"/>
            <a:ext cx="3429000" cy="640080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智能编码推荐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2"/>
            </p:custDataLst>
          </p:nvPr>
        </p:nvSpPr>
        <p:spPr>
          <a:xfrm>
            <a:off x="502920" y="2057400"/>
            <a:ext cx="3429000" cy="25146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buClrTx/>
              <a:buSzTx/>
              <a:buFontTx/>
            </a:pPr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• 医学实体识别</a:t>
            </a:r>
            <a:br>
              <a:rPr sz="13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术语标准化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编码知识检索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候选排序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编码推荐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证据展示</a:t>
            </a:r>
            <a:endParaRPr sz="13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3"/>
            </p:custDataLst>
          </p:nvPr>
        </p:nvSpPr>
        <p:spPr>
          <a:xfrm>
            <a:off x="4416552" y="1325880"/>
            <a:ext cx="3429000" cy="640080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全病历智能质控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4"/>
            </p:custDataLst>
          </p:nvPr>
        </p:nvSpPr>
        <p:spPr>
          <a:xfrm>
            <a:off x="4416552" y="2057400"/>
            <a:ext cx="3429000" cy="25146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buClrTx/>
              <a:buSzTx/>
              <a:buFontTx/>
            </a:pPr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• 全病历理解</a:t>
            </a:r>
            <a:br>
              <a:rPr sz="13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疾病/手术关系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编码一致性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漏编/错编发现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风险分级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整改闭环</a:t>
            </a:r>
            <a:endParaRPr sz="13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8330184" y="1325880"/>
            <a:ext cx="3429000" cy="640080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Agent智能分析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6"/>
            </p:custDataLst>
          </p:nvPr>
        </p:nvSpPr>
        <p:spPr>
          <a:xfrm>
            <a:off x="8330184" y="2057400"/>
            <a:ext cx="3429000" cy="25146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buClrTx/>
              <a:buSzTx/>
              <a:buFontTx/>
            </a:pPr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• 发现疑点</a:t>
            </a:r>
            <a:br>
              <a:rPr sz="13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规划证据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主动检索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多轮推理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动态补充编码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结果反哺</a:t>
            </a:r>
            <a:endParaRPr sz="13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97680" y="5024755"/>
            <a:ext cx="3566160" cy="566928"/>
          </a:xfrm>
          <a:prstGeom prst="roundRect">
            <a:avLst/>
          </a:prstGeom>
          <a:solidFill>
            <a:srgbClr val="16385C"/>
          </a:solidFill>
          <a:ln w="12700">
            <a:solidFill>
              <a:srgbClr val="1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人工审核确认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13" name="Connector 12"/>
          <p:cNvCxnSpPr>
            <a:endCxn id="12" idx="0"/>
          </p:cNvCxnSpPr>
          <p:nvPr/>
        </p:nvCxnSpPr>
        <p:spPr>
          <a:xfrm>
            <a:off x="2194560" y="4572000"/>
            <a:ext cx="3886200" cy="452755"/>
          </a:xfrm>
          <a:prstGeom prst="line">
            <a:avLst/>
          </a:prstGeom>
          <a:ln w="2032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4572000"/>
            <a:ext cx="0" cy="452755"/>
          </a:xfrm>
          <a:prstGeom prst="line">
            <a:avLst/>
          </a:prstGeom>
          <a:ln w="2032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endCxn id="12" idx="0"/>
          </p:cNvCxnSpPr>
          <p:nvPr/>
        </p:nvCxnSpPr>
        <p:spPr>
          <a:xfrm flipH="1">
            <a:off x="6080760" y="4572000"/>
            <a:ext cx="3886200" cy="452755"/>
          </a:xfrm>
          <a:prstGeom prst="line">
            <a:avLst/>
          </a:prstGeom>
          <a:ln w="2032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23360" y="5783707"/>
            <a:ext cx="411480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300" b="0">
                <a:solidFill>
                  <a:srgbClr val="5C6875"/>
                </a:solidFill>
                <a:latin typeface="微软雅黑" panose="020B0503020204020204" charset="-122"/>
              </a:rPr>
              <a:t>最终编码 / 质控结果 / 审计记录</a:t>
            </a:r>
            <a:endParaRPr sz="13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16385C"/>
                </a:solidFill>
                <a:latin typeface="微软雅黑" panose="020B0503020204020204" charset="-122"/>
              </a:rPr>
              <a:t>五、核心AI处理链路：理解 → 检索 → 筛选 → 推理 → 校验 → 推荐</a:t>
            </a:r>
            <a:endParaRPr sz="27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5C6875"/>
                </a:solidFill>
                <a:latin typeface="微软雅黑" panose="020B0503020204020204" charset="-122"/>
              </a:rPr>
              <a:t>大模型不是直接“生成编码”，而是基于标准化医学信息、知识检索、规则与病历证据综合判断</a:t>
            </a:r>
            <a:endParaRPr sz="11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914400" cy="54864"/>
          </a:xfrm>
          <a:prstGeom prst="rect">
            <a:avLst/>
          </a:prstGeom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r"/>
            <a:r>
              <a:rPr sz="900" b="0">
                <a:solidFill>
                  <a:srgbClr val="5C6875"/>
                </a:solidFill>
                <a:latin typeface="微软雅黑" panose="020B0503020204020204" charset="-122"/>
              </a:rPr>
              <a:t>06</a:t>
            </a:r>
            <a:endParaRPr sz="9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438912" cy="384048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11480" y="2267712"/>
            <a:ext cx="1078992" cy="96012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6385C"/>
                </a:solidFill>
                <a:latin typeface="微软雅黑" panose="020B0503020204020204" charset="-122"/>
              </a:rPr>
              <a:t>医学实体识别</a:t>
            </a:r>
            <a:endParaRPr sz="12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1508760" y="2743200"/>
            <a:ext cx="201168" cy="0"/>
          </a:xfrm>
          <a:prstGeom prst="line">
            <a:avLst/>
          </a:prstGeom>
          <a:ln w="1778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709928" y="1828800"/>
            <a:ext cx="438912" cy="384048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709928" y="2267712"/>
            <a:ext cx="1078992" cy="96012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6385C"/>
                </a:solidFill>
                <a:latin typeface="微软雅黑" panose="020B0503020204020204" charset="-122"/>
              </a:rPr>
              <a:t>术语标准化</a:t>
            </a:r>
            <a:endParaRPr sz="12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807208" y="2743200"/>
            <a:ext cx="201168" cy="0"/>
          </a:xfrm>
          <a:prstGeom prst="line">
            <a:avLst/>
          </a:prstGeom>
          <a:ln w="1778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008376" y="1828800"/>
            <a:ext cx="438912" cy="384048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008376" y="2267712"/>
            <a:ext cx="1078992" cy="96012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6385C"/>
                </a:solidFill>
                <a:latin typeface="微软雅黑" panose="020B0503020204020204" charset="-122"/>
              </a:rPr>
              <a:t>Query Rewrite</a:t>
            </a:r>
            <a:endParaRPr sz="1200" b="1">
              <a:solidFill>
                <a:srgbClr val="16385C"/>
              </a:solidFill>
              <a:latin typeface="微软雅黑" panose="020B0503020204020204" charset="-122"/>
            </a:endParaRPr>
          </a:p>
          <a:p>
            <a:pPr algn="ctr"/>
            <a:r>
              <a:rPr lang="zh-CN" altLang="en-US" sz="1200" b="1">
                <a:solidFill>
                  <a:srgbClr val="16385C"/>
                </a:solidFill>
                <a:latin typeface="微软雅黑" panose="020B0503020204020204" charset="-122"/>
              </a:rPr>
              <a:t>查询改写</a:t>
            </a:r>
            <a:endParaRPr lang="zh-CN" altLang="en-US" sz="12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4105656" y="2743200"/>
            <a:ext cx="201168" cy="0"/>
          </a:xfrm>
          <a:prstGeom prst="line">
            <a:avLst/>
          </a:prstGeom>
          <a:ln w="1778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06824" y="1828800"/>
            <a:ext cx="438912" cy="384048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04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06824" y="2267712"/>
            <a:ext cx="1078992" cy="96012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6385C"/>
                </a:solidFill>
                <a:latin typeface="微软雅黑" panose="020B0503020204020204" charset="-122"/>
              </a:rPr>
              <a:t>Hybrid Search</a:t>
            </a:r>
            <a:endParaRPr sz="1200" b="1">
              <a:solidFill>
                <a:srgbClr val="16385C"/>
              </a:solidFill>
              <a:latin typeface="微软雅黑" panose="020B0503020204020204" charset="-122"/>
            </a:endParaRPr>
          </a:p>
          <a:p>
            <a:pPr algn="ctr"/>
            <a:r>
              <a:rPr lang="zh-CN" sz="1200" b="1">
                <a:solidFill>
                  <a:srgbClr val="16385C"/>
                </a:solidFill>
                <a:latin typeface="微软雅黑" panose="020B0503020204020204" charset="-122"/>
              </a:rPr>
              <a:t>混合检索</a:t>
            </a:r>
            <a:endParaRPr lang="zh-CN" sz="12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04104" y="2743200"/>
            <a:ext cx="201168" cy="0"/>
          </a:xfrm>
          <a:prstGeom prst="line">
            <a:avLst/>
          </a:prstGeom>
          <a:ln w="1778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605272" y="1828800"/>
            <a:ext cx="438912" cy="384048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05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05272" y="2267712"/>
            <a:ext cx="1078992" cy="96012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6385C"/>
                </a:solidFill>
                <a:latin typeface="微软雅黑" panose="020B0503020204020204" charset="-122"/>
              </a:rPr>
              <a:t>Rerank</a:t>
            </a:r>
            <a:endParaRPr sz="1200" b="1">
              <a:solidFill>
                <a:srgbClr val="16385C"/>
              </a:solidFill>
              <a:latin typeface="微软雅黑" panose="020B0503020204020204" charset="-122"/>
            </a:endParaRPr>
          </a:p>
          <a:p>
            <a:pPr algn="ctr"/>
            <a:r>
              <a:rPr lang="zh-CN" sz="1200" b="1">
                <a:solidFill>
                  <a:srgbClr val="16385C"/>
                </a:solidFill>
                <a:latin typeface="微软雅黑" panose="020B0503020204020204" charset="-122"/>
              </a:rPr>
              <a:t>候选结果重排序</a:t>
            </a:r>
            <a:endParaRPr lang="zh-CN" sz="12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6702552" y="2743200"/>
            <a:ext cx="201168" cy="0"/>
          </a:xfrm>
          <a:prstGeom prst="line">
            <a:avLst/>
          </a:prstGeom>
          <a:ln w="1778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903720" y="1828800"/>
            <a:ext cx="438912" cy="384048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06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903720" y="2267712"/>
            <a:ext cx="1078992" cy="96012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6385C"/>
                </a:solidFill>
                <a:latin typeface="微软雅黑" panose="020B0503020204020204" charset="-122"/>
              </a:rPr>
              <a:t>LLM推理</a:t>
            </a:r>
            <a:endParaRPr sz="12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8001000" y="2743200"/>
            <a:ext cx="201167" cy="0"/>
          </a:xfrm>
          <a:prstGeom prst="line">
            <a:avLst/>
          </a:prstGeom>
          <a:ln w="1778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02167" y="1828800"/>
            <a:ext cx="438912" cy="384048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07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202167" y="2267712"/>
            <a:ext cx="1078992" cy="96012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6385C"/>
                </a:solidFill>
                <a:latin typeface="微软雅黑" panose="020B0503020204020204" charset="-122"/>
              </a:rPr>
              <a:t>证据验证</a:t>
            </a:r>
            <a:endParaRPr sz="12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9299447" y="2743200"/>
            <a:ext cx="201168" cy="0"/>
          </a:xfrm>
          <a:prstGeom prst="line">
            <a:avLst/>
          </a:prstGeom>
          <a:ln w="1778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500615" y="1828800"/>
            <a:ext cx="438912" cy="384048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08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500615" y="2267712"/>
            <a:ext cx="1078992" cy="96012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6385C"/>
                </a:solidFill>
                <a:latin typeface="微软雅黑" panose="020B0503020204020204" charset="-122"/>
              </a:rPr>
              <a:t>置信度评估</a:t>
            </a:r>
            <a:endParaRPr sz="12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10597895" y="2743200"/>
            <a:ext cx="201168" cy="0"/>
          </a:xfrm>
          <a:prstGeom prst="line">
            <a:avLst/>
          </a:prstGeom>
          <a:ln w="1778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799063" y="1828800"/>
            <a:ext cx="438912" cy="384048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09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0799063" y="2267712"/>
            <a:ext cx="1078992" cy="96012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6385C"/>
                </a:solidFill>
                <a:latin typeface="微软雅黑" panose="020B0503020204020204" charset="-122"/>
              </a:rPr>
              <a:t>输出推荐</a:t>
            </a:r>
            <a:endParaRPr sz="12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31520" y="3977639"/>
            <a:ext cx="2926080" cy="59436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6385C"/>
                </a:solidFill>
                <a:latin typeface="微软雅黑" panose="020B0503020204020204" charset="-122"/>
              </a:rPr>
              <a:t>输入：临床诊断 / 全病历</a:t>
            </a:r>
            <a:endParaRPr sz="16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977639" y="3977639"/>
            <a:ext cx="7223760" cy="59436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6385C"/>
                </a:solidFill>
                <a:latin typeface="微软雅黑" panose="020B0503020204020204" charset="-122"/>
              </a:rPr>
              <a:t>输出：编码建议 + 证据 + 推荐理由 + 规则结果 + 置信度 + 是否需人工审核</a:t>
            </a:r>
            <a:endParaRPr sz="15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16385C"/>
                </a:solidFill>
                <a:latin typeface="微软雅黑" panose="020B0503020204020204" charset="-122"/>
              </a:rPr>
              <a:t>六、业务流程一：智能编码推荐</a:t>
            </a:r>
            <a:endParaRPr sz="27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5C6875"/>
                </a:solidFill>
                <a:latin typeface="微软雅黑" panose="020B0503020204020204" charset="-122"/>
              </a:rPr>
              <a:t>从输入诊断到最终编码，形成可解释、可审核的推荐链路</a:t>
            </a:r>
            <a:endParaRPr sz="11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914400" cy="54864"/>
          </a:xfrm>
          <a:prstGeom prst="rect">
            <a:avLst/>
          </a:prstGeom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r"/>
            <a:r>
              <a:rPr sz="900" b="0">
                <a:solidFill>
                  <a:srgbClr val="5C6875"/>
                </a:solidFill>
                <a:latin typeface="微软雅黑" panose="020B0503020204020204" charset="-122"/>
              </a:rPr>
              <a:t>07</a:t>
            </a:r>
            <a:endParaRPr sz="9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600200" cy="1005840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01</a:t>
            </a:r>
            <a:b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</a:br>
            <a: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输入诊断</a:t>
            </a:r>
            <a:endParaRPr sz="1200" b="1">
              <a:solidFill>
                <a:srgbClr val="FFFFFF"/>
              </a:solidFill>
              <a:latin typeface="微软雅黑" panose="020B0503020204020204" charset="-122"/>
              <a:sym typeface="+mn-ea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2103120" y="2011680"/>
            <a:ext cx="301752" cy="0"/>
          </a:xfrm>
          <a:prstGeom prst="line">
            <a:avLst/>
          </a:prstGeom>
          <a:ln w="1651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04872" y="1508760"/>
            <a:ext cx="1600200" cy="1005840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02</a:t>
            </a:r>
            <a:b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</a:br>
            <a: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医学实体识别</a:t>
            </a:r>
            <a:endParaRPr sz="1200" b="1">
              <a:solidFill>
                <a:srgbClr val="FFFFFF"/>
              </a:solidFill>
              <a:latin typeface="微软雅黑" panose="020B0503020204020204" charset="-122"/>
              <a:sym typeface="+mn-ea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4005072" y="2011680"/>
            <a:ext cx="301752" cy="0"/>
          </a:xfrm>
          <a:prstGeom prst="line">
            <a:avLst/>
          </a:prstGeom>
          <a:ln w="1651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06824" y="1508760"/>
            <a:ext cx="1600200" cy="1005840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03</a:t>
            </a:r>
            <a:b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</a:br>
            <a: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医学术语标准化</a:t>
            </a:r>
            <a:endParaRPr sz="1200" b="1">
              <a:solidFill>
                <a:srgbClr val="FFFFFF"/>
              </a:solidFill>
              <a:latin typeface="微软雅黑" panose="020B0503020204020204" charset="-122"/>
              <a:sym typeface="+mn-ea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907024" y="2011680"/>
            <a:ext cx="301752" cy="0"/>
          </a:xfrm>
          <a:prstGeom prst="line">
            <a:avLst/>
          </a:prstGeom>
          <a:ln w="1651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08776" y="1508760"/>
            <a:ext cx="1600200" cy="1005840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04</a:t>
            </a:r>
            <a:b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</a:br>
            <a: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Query Rewrite</a:t>
            </a:r>
            <a:endParaRPr sz="1200" b="1">
              <a:solidFill>
                <a:srgbClr val="FFFFFF"/>
              </a:solidFill>
              <a:latin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查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询改写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sym typeface="+mn-ea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7808975" y="2011680"/>
            <a:ext cx="301753" cy="0"/>
          </a:xfrm>
          <a:prstGeom prst="line">
            <a:avLst/>
          </a:prstGeom>
          <a:ln w="1651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10728" y="1508760"/>
            <a:ext cx="1600200" cy="1005840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05</a:t>
            </a:r>
            <a:b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</a:br>
            <a: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Hybrid Search</a:t>
            </a:r>
            <a:endParaRPr sz="1200" b="1">
              <a:solidFill>
                <a:srgbClr val="FFFFFF"/>
              </a:solidFill>
              <a:latin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混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合检索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sym typeface="+mn-ea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710928" y="2011680"/>
            <a:ext cx="301752" cy="0"/>
          </a:xfrm>
          <a:prstGeom prst="line">
            <a:avLst/>
          </a:prstGeom>
          <a:ln w="1651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12680" y="1508760"/>
            <a:ext cx="1600200" cy="1005840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06</a:t>
            </a:r>
            <a:b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</a:br>
            <a: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候选编码集合</a:t>
            </a:r>
            <a:endParaRPr sz="1200" b="1">
              <a:solidFill>
                <a:srgbClr val="FFFFFF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429000"/>
            <a:ext cx="1600200" cy="1005840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07</a:t>
            </a:r>
            <a:b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</a:br>
            <a: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Rerank</a:t>
            </a:r>
            <a:endParaRPr sz="1200" b="1">
              <a:solidFill>
                <a:srgbClr val="FFFFFF"/>
              </a:solidFill>
              <a:latin typeface="微软雅黑" panose="020B050302020402020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候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选结果重排序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sym typeface="+mn-ea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103120" y="3931920"/>
            <a:ext cx="301752" cy="0"/>
          </a:xfrm>
          <a:prstGeom prst="line">
            <a:avLst/>
          </a:prstGeom>
          <a:ln w="1651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404872" y="3429000"/>
            <a:ext cx="1600200" cy="1005840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08</a:t>
            </a:r>
            <a:b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</a:br>
            <a: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LLM医学推理</a:t>
            </a:r>
            <a:endParaRPr sz="1200" b="1">
              <a:solidFill>
                <a:srgbClr val="FFFFFF"/>
              </a:solidFill>
              <a:latin typeface="微软雅黑" panose="020B0503020204020204" charset="-122"/>
              <a:sym typeface="+mn-ea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4005072" y="3931920"/>
            <a:ext cx="301752" cy="0"/>
          </a:xfrm>
          <a:prstGeom prst="line">
            <a:avLst/>
          </a:prstGeom>
          <a:ln w="1651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06824" y="3429000"/>
            <a:ext cx="1600200" cy="1005840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09</a:t>
            </a:r>
            <a:b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</a:br>
            <a: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规则校验</a:t>
            </a:r>
            <a:endParaRPr sz="1200" b="1">
              <a:solidFill>
                <a:srgbClr val="FFFFFF"/>
              </a:solidFill>
              <a:latin typeface="微软雅黑" panose="020B0503020204020204" charset="-122"/>
              <a:sym typeface="+mn-ea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907024" y="3931920"/>
            <a:ext cx="301752" cy="0"/>
          </a:xfrm>
          <a:prstGeom prst="line">
            <a:avLst/>
          </a:prstGeom>
          <a:ln w="1651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08776" y="3429000"/>
            <a:ext cx="1600200" cy="1005840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10</a:t>
            </a:r>
            <a:br>
              <a:rPr sz="1200" b="1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编码推荐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7808975" y="3931920"/>
            <a:ext cx="301753" cy="0"/>
          </a:xfrm>
          <a:prstGeom prst="line">
            <a:avLst/>
          </a:prstGeom>
          <a:ln w="1651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10728" y="3429000"/>
            <a:ext cx="1600200" cy="1005840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11</a:t>
            </a:r>
            <a:b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</a:br>
            <a:r>
              <a:rPr sz="1200" b="1"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人工审核</a:t>
            </a:r>
            <a:endParaRPr sz="1200" b="1">
              <a:solidFill>
                <a:srgbClr val="FFFFFF"/>
              </a:solidFill>
              <a:latin typeface="微软雅黑" panose="020B0503020204020204" charset="-122"/>
              <a:sym typeface="+mn-ea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9710928" y="3931920"/>
            <a:ext cx="301752" cy="0"/>
          </a:xfrm>
          <a:prstGeom prst="line">
            <a:avLst/>
          </a:prstGeom>
          <a:ln w="1651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012680" y="3429000"/>
            <a:ext cx="1600200" cy="1005840"/>
          </a:xfrm>
          <a:prstGeom prst="roundRect">
            <a:avLst/>
          </a:prstGeom>
          <a:solidFill>
            <a:srgbClr val="16385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12</a:t>
            </a:r>
            <a:br>
              <a:rPr sz="1200" b="1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t>最终编码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1879600" y="2514600"/>
            <a:ext cx="8644255" cy="914400"/>
          </a:xfrm>
          <a:prstGeom prst="line">
            <a:avLst/>
          </a:prstGeom>
          <a:ln w="1651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5577840"/>
            <a:ext cx="1024128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400" b="0">
                <a:solidFill>
                  <a:srgbClr val="5C6875"/>
                </a:solidFill>
                <a:latin typeface="微软雅黑" panose="020B0503020204020204" charset="-122"/>
              </a:rPr>
              <a:t>AI最终展示：推荐诊断｜推荐编码｜证据来源｜推荐理由｜规则检查｜置信度</a:t>
            </a:r>
            <a:endParaRPr sz="14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16385C"/>
                </a:solidFill>
                <a:latin typeface="微软雅黑" panose="020B0503020204020204" charset="-122"/>
              </a:rPr>
              <a:t>七、智能编码推荐：AI每一步具体做什么</a:t>
            </a:r>
            <a:endParaRPr sz="27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5C6875"/>
                </a:solidFill>
                <a:latin typeface="微软雅黑" panose="020B0503020204020204" charset="-122"/>
              </a:rPr>
              <a:t>以“左胫骨平台粉碎性骨折，行切开复位内固定术”为例</a:t>
            </a:r>
            <a:endParaRPr sz="11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914400" cy="54864"/>
          </a:xfrm>
          <a:prstGeom prst="rect">
            <a:avLst/>
          </a:prstGeom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r"/>
            <a:r>
              <a:rPr sz="900" b="0">
                <a:solidFill>
                  <a:srgbClr val="5C6875"/>
                </a:solidFill>
                <a:latin typeface="微软雅黑" panose="020B0503020204020204" charset="-122"/>
              </a:rPr>
              <a:t>08</a:t>
            </a:r>
            <a:endParaRPr sz="9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743200" cy="658368"/>
          </a:xfrm>
          <a:prstGeom prst="roundRect">
            <a:avLst/>
          </a:prstGeom>
          <a:solidFill>
            <a:srgbClr val="16385C"/>
          </a:solidFill>
          <a:ln w="12700">
            <a:solidFill>
              <a:srgbClr val="1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原始病历描述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2743200" cy="100584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buClrTx/>
              <a:buSzTx/>
              <a:buFontTx/>
            </a:pPr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左胫骨平台粉碎性骨折，</a:t>
            </a:r>
            <a:br>
              <a:rPr sz="13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行切开复位内固定术</a:t>
            </a:r>
            <a:endParaRPr sz="13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66160" y="1325880"/>
            <a:ext cx="2743200" cy="658368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结构化医学信息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566160" y="2057400"/>
            <a:ext cx="2743200" cy="100584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buClrTx/>
              <a:buSzTx/>
              <a:buFontTx/>
            </a:pPr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疾病：骨折</a:t>
            </a:r>
            <a:br>
              <a:rPr sz="13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部位：胫骨平台｜侧别：左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性质：粉碎性｜手术：切开复位内固定</a:t>
            </a:r>
            <a:endParaRPr sz="13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629400" y="1325880"/>
            <a:ext cx="2286000" cy="658368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知识检索与排序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629400" y="2057400"/>
            <a:ext cx="2286000" cy="100584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buClrTx/>
              <a:buSzTx/>
              <a:buFontTx/>
            </a:pPr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编码字典</a:t>
            </a:r>
            <a:br>
              <a:rPr sz="13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术语库｜同义词库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规则库｜历史案例</a:t>
            </a:r>
            <a:endParaRPr sz="13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89720" y="1325880"/>
            <a:ext cx="2468880" cy="658368"/>
          </a:xfrm>
          <a:prstGeom prst="roundRect">
            <a:avLst/>
          </a:prstGeom>
          <a:solidFill>
            <a:srgbClr val="448F5B"/>
          </a:solidFill>
          <a:ln w="12700">
            <a:solidFill>
              <a:srgbClr val="44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全病历验证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189720" y="2057400"/>
            <a:ext cx="2468880" cy="100584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buClrTx/>
              <a:buSzTx/>
              <a:buFontTx/>
            </a:pPr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入院记录</a:t>
            </a:r>
            <a:br>
              <a:rPr sz="13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病程｜影像｜手术｜出院</a:t>
            </a:r>
            <a:endParaRPr sz="13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3246120" y="2560320"/>
            <a:ext cx="292607" cy="0"/>
          </a:xfrm>
          <a:prstGeom prst="line">
            <a:avLst/>
          </a:prstGeom>
          <a:ln w="1905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09360" y="2560320"/>
            <a:ext cx="292608" cy="0"/>
          </a:xfrm>
          <a:prstGeom prst="line">
            <a:avLst/>
          </a:prstGeom>
          <a:ln w="1905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15400" y="2560320"/>
            <a:ext cx="247015" cy="0"/>
          </a:xfrm>
          <a:prstGeom prst="line">
            <a:avLst/>
          </a:prstGeom>
          <a:ln w="1905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828800" y="4160520"/>
            <a:ext cx="8595360" cy="77724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6385C"/>
                </a:solidFill>
                <a:latin typeface="微软雅黑" panose="020B0503020204020204" charset="-122"/>
              </a:rPr>
              <a:t>输出：推荐编码 + 证据 + 理由 + 置信度 → 人工审核</a:t>
            </a:r>
            <a:endParaRPr sz="19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16385C"/>
                </a:solidFill>
                <a:latin typeface="微软雅黑" panose="020B0503020204020204" charset="-122"/>
              </a:rPr>
              <a:t>八、业务流程二：全病历智能质控</a:t>
            </a:r>
            <a:endParaRPr sz="27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5C6875"/>
                </a:solidFill>
                <a:latin typeface="微软雅黑" panose="020B0503020204020204" charset="-122"/>
              </a:rPr>
              <a:t>从“检查编码”升级为“理解整份病历、发现潜在编码问题”</a:t>
            </a:r>
            <a:endParaRPr sz="11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914400" cy="54864"/>
          </a:xfrm>
          <a:prstGeom prst="rect">
            <a:avLst/>
          </a:prstGeom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r"/>
            <a:r>
              <a:rPr sz="900" b="0">
                <a:solidFill>
                  <a:srgbClr val="5C6875"/>
                </a:solidFill>
                <a:latin typeface="微软雅黑" panose="020B0503020204020204" charset="-122"/>
              </a:rPr>
              <a:t>09</a:t>
            </a:r>
            <a:endParaRPr sz="9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384048" cy="365760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11480" y="2103120"/>
            <a:ext cx="1051560" cy="1143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6385C"/>
                </a:solidFill>
                <a:latin typeface="微软雅黑" panose="020B0503020204020204" charset="-122"/>
              </a:rPr>
              <a:t>读取全病历</a:t>
            </a:r>
            <a:endParaRPr sz="11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1463039" y="2670048"/>
            <a:ext cx="246889" cy="0"/>
          </a:xfrm>
          <a:prstGeom prst="line">
            <a:avLst/>
          </a:prstGeom>
          <a:ln w="1524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709928" y="1645920"/>
            <a:ext cx="384048" cy="365760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709928" y="2103120"/>
            <a:ext cx="1051560" cy="1143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6385C"/>
                </a:solidFill>
                <a:latin typeface="微软雅黑" panose="020B0503020204020204" charset="-122"/>
              </a:rPr>
              <a:t>医学实体抽取</a:t>
            </a:r>
            <a:endParaRPr sz="11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761487" y="2670048"/>
            <a:ext cx="246889" cy="0"/>
          </a:xfrm>
          <a:prstGeom prst="line">
            <a:avLst/>
          </a:prstGeom>
          <a:ln w="1524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008376" y="1645920"/>
            <a:ext cx="384048" cy="365760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008376" y="2103120"/>
            <a:ext cx="1051560" cy="1143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6385C"/>
                </a:solidFill>
                <a:latin typeface="微软雅黑" panose="020B0503020204020204" charset="-122"/>
              </a:rPr>
              <a:t>形成临床事实</a:t>
            </a:r>
            <a:endParaRPr sz="11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4059935" y="2670048"/>
            <a:ext cx="246889" cy="0"/>
          </a:xfrm>
          <a:prstGeom prst="line">
            <a:avLst/>
          </a:prstGeom>
          <a:ln w="1524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06824" y="1645920"/>
            <a:ext cx="384048" cy="365760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04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06824" y="2103120"/>
            <a:ext cx="1051560" cy="1143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6385C"/>
                </a:solidFill>
                <a:latin typeface="微软雅黑" panose="020B0503020204020204" charset="-122"/>
              </a:rPr>
              <a:t>疾病/手术/并发症关系分析</a:t>
            </a:r>
            <a:endParaRPr sz="11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358383" y="2670048"/>
            <a:ext cx="246889" cy="0"/>
          </a:xfrm>
          <a:prstGeom prst="line">
            <a:avLst/>
          </a:prstGeom>
          <a:ln w="1524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605272" y="1645920"/>
            <a:ext cx="384048" cy="365760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05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05272" y="2103120"/>
            <a:ext cx="1051560" cy="1143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6385C"/>
                </a:solidFill>
                <a:latin typeface="微软雅黑" panose="020B0503020204020204" charset="-122"/>
              </a:rPr>
              <a:t>与当前编码语义比对</a:t>
            </a:r>
            <a:endParaRPr sz="11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6656831" y="2670048"/>
            <a:ext cx="246889" cy="0"/>
          </a:xfrm>
          <a:prstGeom prst="line">
            <a:avLst/>
          </a:prstGeom>
          <a:ln w="1524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903720" y="1645920"/>
            <a:ext cx="384048" cy="365760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06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903720" y="2103120"/>
            <a:ext cx="1051560" cy="1143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6385C"/>
                </a:solidFill>
                <a:latin typeface="微软雅黑" panose="020B0503020204020204" charset="-122"/>
              </a:rPr>
              <a:t>问题识别与风险分级</a:t>
            </a:r>
            <a:endParaRPr sz="11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7955279" y="2670048"/>
            <a:ext cx="246888" cy="0"/>
          </a:xfrm>
          <a:prstGeom prst="line">
            <a:avLst/>
          </a:prstGeom>
          <a:ln w="1524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02167" y="1645920"/>
            <a:ext cx="384048" cy="365760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07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202167" y="2103120"/>
            <a:ext cx="1051560" cy="1143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6385C"/>
                </a:solidFill>
                <a:latin typeface="微软雅黑" panose="020B0503020204020204" charset="-122"/>
              </a:rPr>
              <a:t>人工确认</a:t>
            </a:r>
            <a:endParaRPr sz="11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9253728" y="2670048"/>
            <a:ext cx="246887" cy="0"/>
          </a:xfrm>
          <a:prstGeom prst="line">
            <a:avLst/>
          </a:prstGeom>
          <a:ln w="1524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500615" y="1645920"/>
            <a:ext cx="384048" cy="365760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08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500615" y="2103120"/>
            <a:ext cx="1051560" cy="1143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6385C"/>
                </a:solidFill>
                <a:latin typeface="微软雅黑" panose="020B0503020204020204" charset="-122"/>
              </a:rPr>
              <a:t>整改复核</a:t>
            </a:r>
            <a:endParaRPr sz="11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10552176" y="2670048"/>
            <a:ext cx="246887" cy="0"/>
          </a:xfrm>
          <a:prstGeom prst="line">
            <a:avLst/>
          </a:prstGeom>
          <a:ln w="1524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799063" y="1645920"/>
            <a:ext cx="384048" cy="365760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09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0799063" y="2103120"/>
            <a:ext cx="1051560" cy="1143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6385C"/>
                </a:solidFill>
                <a:latin typeface="微软雅黑" panose="020B0503020204020204" charset="-122"/>
              </a:rPr>
              <a:t>统计分析</a:t>
            </a:r>
            <a:endParaRPr sz="11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85800" y="4069080"/>
            <a:ext cx="1554480" cy="502920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重点发现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468880" y="4005072"/>
            <a:ext cx="1417320" cy="64008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6385C"/>
                </a:solidFill>
                <a:latin typeface="微软雅黑" panose="020B0503020204020204" charset="-122"/>
              </a:rPr>
              <a:t>漏编疾病</a:t>
            </a:r>
            <a:endParaRPr sz="13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206240" y="4005072"/>
            <a:ext cx="1417320" cy="64008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6385C"/>
                </a:solidFill>
                <a:latin typeface="微软雅黑" panose="020B0503020204020204" charset="-122"/>
              </a:rPr>
              <a:t>漏编并发症</a:t>
            </a:r>
            <a:endParaRPr sz="13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943600" y="4005072"/>
            <a:ext cx="1417320" cy="64008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6385C"/>
                </a:solidFill>
                <a:latin typeface="微软雅黑" panose="020B0503020204020204" charset="-122"/>
              </a:rPr>
              <a:t>漏编手术</a:t>
            </a:r>
            <a:endParaRPr sz="13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680959" y="4005072"/>
            <a:ext cx="1417320" cy="64008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6385C"/>
                </a:solidFill>
                <a:latin typeface="微软雅黑" panose="020B0503020204020204" charset="-122"/>
              </a:rPr>
              <a:t>错编/不一致</a:t>
            </a:r>
            <a:endParaRPr sz="13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418320" y="4005072"/>
            <a:ext cx="1417320" cy="64008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16385C"/>
                </a:solidFill>
                <a:latin typeface="微软雅黑" panose="020B0503020204020204" charset="-122"/>
              </a:rPr>
              <a:t>编码粒度不足</a:t>
            </a:r>
            <a:endParaRPr sz="13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2331720" y="5166360"/>
            <a:ext cx="7223760" cy="594360"/>
          </a:xfrm>
          <a:prstGeom prst="roundRect">
            <a:avLst/>
          </a:prstGeom>
          <a:solidFill>
            <a:srgbClr val="16385C"/>
          </a:solidFill>
          <a:ln w="12700">
            <a:solidFill>
              <a:srgbClr val="1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发现 → 定位 → 解释 → 整改 → 复核 → 统计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16385C"/>
                </a:solidFill>
                <a:latin typeface="微软雅黑" panose="020B0503020204020204" charset="-122"/>
              </a:rPr>
              <a:t>九、全病历智能质控：从“提示问题”到“给出证据”</a:t>
            </a:r>
            <a:endParaRPr sz="27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5C6875"/>
                </a:solidFill>
                <a:latin typeface="微软雅黑" panose="020B0503020204020204" charset="-122"/>
              </a:rPr>
              <a:t>质控结果不仅指出哪里有问题，还说明为什么、依据什么</a:t>
            </a:r>
            <a:endParaRPr sz="11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914400" cy="54864"/>
          </a:xfrm>
          <a:prstGeom prst="rect">
            <a:avLst/>
          </a:prstGeom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r"/>
            <a:r>
              <a:rPr sz="900" b="0">
                <a:solidFill>
                  <a:srgbClr val="5C6875"/>
                </a:solidFill>
                <a:latin typeface="微软雅黑" panose="020B0503020204020204" charset="-122"/>
              </a:rPr>
              <a:t>10</a:t>
            </a:r>
            <a:endParaRPr sz="9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548640" y="1417320"/>
            <a:ext cx="2286000" cy="640080"/>
          </a:xfrm>
          <a:prstGeom prst="roundRect">
            <a:avLst/>
          </a:prstGeom>
          <a:solidFill>
            <a:srgbClr val="16385C"/>
          </a:solidFill>
          <a:ln w="12700">
            <a:solidFill>
              <a:srgbClr val="1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病历证据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2"/>
            </p:custDataLst>
          </p:nvPr>
        </p:nvSpPr>
        <p:spPr>
          <a:xfrm>
            <a:off x="548640" y="2148840"/>
            <a:ext cx="2286000" cy="192024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buClrTx/>
              <a:buSzTx/>
              <a:buFontTx/>
            </a:pPr>
            <a:r>
              <a:rPr sz="1400" b="0">
                <a:solidFill>
                  <a:srgbClr val="232B34"/>
                </a:solidFill>
                <a:latin typeface="微软雅黑" panose="020B0503020204020204" charset="-122"/>
              </a:rPr>
              <a:t>出院诊断</a:t>
            </a:r>
            <a:br>
              <a:rPr sz="14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400">
                <a:solidFill>
                  <a:srgbClr val="232B34"/>
                </a:solidFill>
                <a:latin typeface="微软雅黑" panose="020B0503020204020204" charset="-122"/>
              </a:rPr>
              <a:t>病程记录</a:t>
            </a:r>
            <a:br>
              <a:rPr sz="14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400">
                <a:solidFill>
                  <a:srgbClr val="232B34"/>
                </a:solidFill>
                <a:latin typeface="微软雅黑" panose="020B0503020204020204" charset="-122"/>
              </a:rPr>
              <a:t>手术记录</a:t>
            </a:r>
            <a:br>
              <a:rPr sz="14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400">
                <a:solidFill>
                  <a:srgbClr val="232B34"/>
                </a:solidFill>
                <a:latin typeface="微软雅黑" panose="020B0503020204020204" charset="-122"/>
              </a:rPr>
              <a:t>影像/检验</a:t>
            </a:r>
            <a:br>
              <a:rPr sz="14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400">
                <a:solidFill>
                  <a:srgbClr val="232B34"/>
                </a:solidFill>
                <a:latin typeface="微软雅黑" panose="020B0503020204020204" charset="-122"/>
              </a:rPr>
              <a:t>治疗信息</a:t>
            </a:r>
            <a:endParaRPr sz="14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3"/>
            </p:custDataLst>
          </p:nvPr>
        </p:nvSpPr>
        <p:spPr>
          <a:xfrm>
            <a:off x="3291840" y="1417320"/>
            <a:ext cx="2286000" cy="640080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AI语义分析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4"/>
            </p:custDataLst>
          </p:nvPr>
        </p:nvSpPr>
        <p:spPr>
          <a:xfrm>
            <a:off x="3291840" y="2148840"/>
            <a:ext cx="2286000" cy="192024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buClrTx/>
              <a:buSzTx/>
              <a:buFontTx/>
            </a:pPr>
            <a:r>
              <a:rPr sz="1400" b="0">
                <a:solidFill>
                  <a:srgbClr val="232B34"/>
                </a:solidFill>
                <a:latin typeface="微软雅黑" panose="020B0503020204020204" charset="-122"/>
              </a:rPr>
              <a:t>疾病关系</a:t>
            </a:r>
            <a:br>
              <a:rPr sz="14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400">
                <a:solidFill>
                  <a:srgbClr val="232B34"/>
                </a:solidFill>
                <a:latin typeface="微软雅黑" panose="020B0503020204020204" charset="-122"/>
              </a:rPr>
              <a:t>手术关系</a:t>
            </a:r>
            <a:br>
              <a:rPr sz="14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400">
                <a:solidFill>
                  <a:srgbClr val="232B34"/>
                </a:solidFill>
                <a:latin typeface="微软雅黑" panose="020B0503020204020204" charset="-122"/>
              </a:rPr>
              <a:t>并发症关系</a:t>
            </a:r>
            <a:br>
              <a:rPr sz="14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400">
                <a:solidFill>
                  <a:srgbClr val="232B34"/>
                </a:solidFill>
                <a:latin typeface="微软雅黑" panose="020B0503020204020204" charset="-122"/>
              </a:rPr>
              <a:t>当前编码语义</a:t>
            </a:r>
            <a:br>
              <a:rPr sz="14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400">
                <a:solidFill>
                  <a:srgbClr val="232B34"/>
                </a:solidFill>
                <a:latin typeface="微软雅黑" panose="020B0503020204020204" charset="-122"/>
              </a:rPr>
              <a:t>规则约束</a:t>
            </a:r>
            <a:endParaRPr sz="14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6035040" y="1417320"/>
            <a:ext cx="2286000" cy="640080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质控结论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6"/>
            </p:custDataLst>
          </p:nvPr>
        </p:nvSpPr>
        <p:spPr>
          <a:xfrm>
            <a:off x="6035040" y="2148840"/>
            <a:ext cx="2286000" cy="192024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buClrTx/>
              <a:buSzTx/>
              <a:buFontTx/>
            </a:pPr>
            <a:r>
              <a:rPr sz="1400" b="0">
                <a:solidFill>
                  <a:srgbClr val="232B34"/>
                </a:solidFill>
                <a:latin typeface="微软雅黑" panose="020B0503020204020204" charset="-122"/>
              </a:rPr>
              <a:t>疑似漏编</a:t>
            </a:r>
            <a:br>
              <a:rPr sz="14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400">
                <a:solidFill>
                  <a:srgbClr val="232B34"/>
                </a:solidFill>
                <a:latin typeface="微软雅黑" panose="020B0503020204020204" charset="-122"/>
              </a:rPr>
              <a:t>疑似错编</a:t>
            </a:r>
            <a:br>
              <a:rPr sz="14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400">
                <a:solidFill>
                  <a:srgbClr val="232B34"/>
                </a:solidFill>
                <a:latin typeface="微软雅黑" panose="020B0503020204020204" charset="-122"/>
              </a:rPr>
              <a:t>编码不一致</a:t>
            </a:r>
            <a:br>
              <a:rPr sz="14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400">
                <a:solidFill>
                  <a:srgbClr val="232B34"/>
                </a:solidFill>
                <a:latin typeface="微软雅黑" panose="020B0503020204020204" charset="-122"/>
              </a:rPr>
              <a:t>编码粒度不足</a:t>
            </a:r>
            <a:br>
              <a:rPr sz="14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400">
                <a:solidFill>
                  <a:srgbClr val="232B34"/>
                </a:solidFill>
                <a:latin typeface="微软雅黑" panose="020B0503020204020204" charset="-122"/>
              </a:rPr>
              <a:t>风险等级</a:t>
            </a:r>
            <a:endParaRPr sz="14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8778240" y="1417320"/>
            <a:ext cx="2560320" cy="640080"/>
          </a:xfrm>
          <a:prstGeom prst="roundRect">
            <a:avLst/>
          </a:prstGeom>
          <a:solidFill>
            <a:srgbClr val="448F5B"/>
          </a:solidFill>
          <a:ln w="12700">
            <a:solidFill>
              <a:srgbClr val="44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闭环处理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8"/>
            </p:custDataLst>
          </p:nvPr>
        </p:nvSpPr>
        <p:spPr>
          <a:xfrm>
            <a:off x="8778240" y="2148840"/>
            <a:ext cx="2560320" cy="192024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buClrTx/>
              <a:buSzTx/>
              <a:buFontTx/>
            </a:pPr>
            <a:r>
              <a:rPr sz="1400" b="0">
                <a:solidFill>
                  <a:srgbClr val="232B34"/>
                </a:solidFill>
                <a:latin typeface="微软雅黑" panose="020B0503020204020204" charset="-122"/>
              </a:rPr>
              <a:t>人工确认</a:t>
            </a:r>
            <a:br>
              <a:rPr sz="14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400">
                <a:solidFill>
                  <a:srgbClr val="232B34"/>
                </a:solidFill>
                <a:latin typeface="微软雅黑" panose="020B0503020204020204" charset="-122"/>
              </a:rPr>
              <a:t>整改</a:t>
            </a:r>
            <a:br>
              <a:rPr sz="14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400">
                <a:solidFill>
                  <a:srgbClr val="232B34"/>
                </a:solidFill>
                <a:latin typeface="微软雅黑" panose="020B0503020204020204" charset="-122"/>
              </a:rPr>
              <a:t>重新质控</a:t>
            </a:r>
            <a:br>
              <a:rPr sz="14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400">
                <a:solidFill>
                  <a:srgbClr val="232B34"/>
                </a:solidFill>
                <a:latin typeface="微软雅黑" panose="020B0503020204020204" charset="-122"/>
              </a:rPr>
              <a:t>结果统计</a:t>
            </a:r>
            <a:br>
              <a:rPr sz="14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400">
                <a:solidFill>
                  <a:srgbClr val="232B34"/>
                </a:solidFill>
                <a:latin typeface="微软雅黑" panose="020B0503020204020204" charset="-122"/>
              </a:rPr>
              <a:t>问题沉淀</a:t>
            </a:r>
            <a:endParaRPr sz="14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>
            <p:custDataLst>
              <p:tags r:id="rId9"/>
            </p:custDataLst>
          </p:nvPr>
        </p:nvCxnSpPr>
        <p:spPr>
          <a:xfrm>
            <a:off x="2834640" y="3108960"/>
            <a:ext cx="457200" cy="0"/>
          </a:xfrm>
          <a:prstGeom prst="line">
            <a:avLst/>
          </a:prstGeom>
          <a:ln w="2032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>
            <p:custDataLst>
              <p:tags r:id="rId10"/>
            </p:custDataLst>
          </p:nvPr>
        </p:nvCxnSpPr>
        <p:spPr>
          <a:xfrm>
            <a:off x="5577840" y="3108960"/>
            <a:ext cx="457200" cy="0"/>
          </a:xfrm>
          <a:prstGeom prst="line">
            <a:avLst/>
          </a:prstGeom>
          <a:ln w="2032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>
            <p:custDataLst>
              <p:tags r:id="rId11"/>
            </p:custDataLst>
          </p:nvPr>
        </p:nvCxnSpPr>
        <p:spPr>
          <a:xfrm>
            <a:off x="8321040" y="3108960"/>
            <a:ext cx="457200" cy="0"/>
          </a:xfrm>
          <a:prstGeom prst="line">
            <a:avLst/>
          </a:prstGeom>
          <a:ln w="2032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16385C"/>
                </a:solidFill>
                <a:latin typeface="微软雅黑" panose="020B0503020204020204" charset="-122"/>
              </a:rPr>
              <a:t>十、业务流程三：Agent智能分析</a:t>
            </a:r>
            <a:endParaRPr sz="27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5C6875"/>
                </a:solidFill>
                <a:latin typeface="微软雅黑" panose="020B0503020204020204" charset="-122"/>
              </a:rPr>
              <a:t>Agent把系统从“用户提问、系统响应”升级为“系统发现、主动分析”</a:t>
            </a:r>
            <a:endParaRPr sz="11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914400" cy="54864"/>
          </a:xfrm>
          <a:prstGeom prst="rect">
            <a:avLst/>
          </a:prstGeom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r"/>
            <a:r>
              <a:rPr sz="900" b="0">
                <a:solidFill>
                  <a:srgbClr val="5C6875"/>
                </a:solidFill>
                <a:latin typeface="微软雅黑" panose="020B0503020204020204" charset="-122"/>
              </a:rPr>
              <a:t>11</a:t>
            </a:r>
            <a:endParaRPr sz="9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74320" y="1508760"/>
            <a:ext cx="347472" cy="329184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" y="1938528"/>
            <a:ext cx="841248" cy="1024128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发现疑点</a:t>
            </a:r>
            <a:endParaRPr sz="10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1115568" y="2450592"/>
            <a:ext cx="228600" cy="0"/>
          </a:xfrm>
          <a:prstGeom prst="line">
            <a:avLst/>
          </a:prstGeom>
          <a:ln w="127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344168" y="1508760"/>
            <a:ext cx="347472" cy="329184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344168" y="1938528"/>
            <a:ext cx="841248" cy="1024128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分析问题</a:t>
            </a:r>
            <a:endParaRPr sz="10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2185416" y="2450592"/>
            <a:ext cx="228599" cy="0"/>
          </a:xfrm>
          <a:prstGeom prst="line">
            <a:avLst/>
          </a:prstGeom>
          <a:ln w="127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14015" y="1508760"/>
            <a:ext cx="347472" cy="329184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414015" y="1938528"/>
            <a:ext cx="841248" cy="1024128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规划证据</a:t>
            </a:r>
            <a:endParaRPr sz="10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3255263" y="2450592"/>
            <a:ext cx="228600" cy="0"/>
          </a:xfrm>
          <a:prstGeom prst="line">
            <a:avLst/>
          </a:prstGeom>
          <a:ln w="127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83863" y="1508760"/>
            <a:ext cx="347472" cy="329184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04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483863" y="1938528"/>
            <a:ext cx="841248" cy="1024128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主动检索</a:t>
            </a:r>
            <a:br>
              <a:rPr sz="1000" b="1">
                <a:solidFill>
                  <a:srgbClr val="16385C"/>
                </a:solidFill>
                <a:latin typeface="微软雅黑" panose="020B0503020204020204" charset="-122"/>
              </a:rPr>
            </a:br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出院诊断</a:t>
            </a:r>
            <a:endParaRPr sz="10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4325112" y="2450592"/>
            <a:ext cx="228600" cy="0"/>
          </a:xfrm>
          <a:prstGeom prst="line">
            <a:avLst/>
          </a:prstGeom>
          <a:ln w="127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53712" y="1508760"/>
            <a:ext cx="347472" cy="329184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05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53712" y="1938528"/>
            <a:ext cx="841248" cy="1024128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检索</a:t>
            </a:r>
            <a:br>
              <a:rPr sz="1000" b="1">
                <a:solidFill>
                  <a:srgbClr val="16385C"/>
                </a:solidFill>
                <a:latin typeface="微软雅黑" panose="020B0503020204020204" charset="-122"/>
              </a:rPr>
            </a:br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影像报告</a:t>
            </a:r>
            <a:endParaRPr sz="10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5394959" y="2450592"/>
            <a:ext cx="228600" cy="0"/>
          </a:xfrm>
          <a:prstGeom prst="line">
            <a:avLst/>
          </a:prstGeom>
          <a:ln w="127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623559" y="1508760"/>
            <a:ext cx="347472" cy="329184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06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623559" y="1938528"/>
            <a:ext cx="841248" cy="1024128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检索</a:t>
            </a:r>
            <a:br>
              <a:rPr sz="1000" b="1">
                <a:solidFill>
                  <a:srgbClr val="16385C"/>
                </a:solidFill>
                <a:latin typeface="微软雅黑" panose="020B0503020204020204" charset="-122"/>
              </a:rPr>
            </a:br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病程记录</a:t>
            </a:r>
            <a:endParaRPr sz="10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6464807" y="2450592"/>
            <a:ext cx="228600" cy="0"/>
          </a:xfrm>
          <a:prstGeom prst="line">
            <a:avLst/>
          </a:prstGeom>
          <a:ln w="127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693407" y="1508760"/>
            <a:ext cx="347472" cy="329184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07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693407" y="1938528"/>
            <a:ext cx="841248" cy="1024128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检索</a:t>
            </a:r>
            <a:br>
              <a:rPr sz="1000" b="1">
                <a:solidFill>
                  <a:srgbClr val="16385C"/>
                </a:solidFill>
                <a:latin typeface="微软雅黑" panose="020B0503020204020204" charset="-122"/>
              </a:rPr>
            </a:br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治疗信息</a:t>
            </a:r>
            <a:endParaRPr sz="10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7534656" y="2450592"/>
            <a:ext cx="228599" cy="0"/>
          </a:xfrm>
          <a:prstGeom prst="line">
            <a:avLst/>
          </a:prstGeom>
          <a:ln w="127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763256" y="1508760"/>
            <a:ext cx="347472" cy="329184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08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63256" y="1938528"/>
            <a:ext cx="841248" cy="1024128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综合推理</a:t>
            </a:r>
            <a:endParaRPr sz="10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8604504" y="2450592"/>
            <a:ext cx="228600" cy="0"/>
          </a:xfrm>
          <a:prstGeom prst="line">
            <a:avLst/>
          </a:prstGeom>
          <a:ln w="127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833104" y="1508760"/>
            <a:ext cx="347472" cy="329184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09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833104" y="1938528"/>
            <a:ext cx="841248" cy="1024128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是否需要更多证据？</a:t>
            </a:r>
            <a:endParaRPr sz="10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9674352" y="2450592"/>
            <a:ext cx="228600" cy="0"/>
          </a:xfrm>
          <a:prstGeom prst="line">
            <a:avLst/>
          </a:prstGeom>
          <a:ln w="127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902952" y="1508760"/>
            <a:ext cx="347472" cy="329184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10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902952" y="1938528"/>
            <a:ext cx="841248" cy="1024128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形成结论</a:t>
            </a:r>
            <a:endParaRPr sz="10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10744200" y="2450592"/>
            <a:ext cx="228600" cy="0"/>
          </a:xfrm>
          <a:prstGeom prst="line">
            <a:avLst/>
          </a:prstGeom>
          <a:ln w="127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972800" y="1508760"/>
            <a:ext cx="347472" cy="329184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 panose="020B0503020204020204" charset="-122"/>
              </a:rPr>
              <a:t>11</a:t>
            </a:r>
            <a:endParaRPr sz="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0972800" y="1938528"/>
            <a:ext cx="841248" cy="1024128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进入编码/质控</a:t>
            </a:r>
            <a:endParaRPr sz="10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731520" y="3931920"/>
            <a:ext cx="10698480" cy="68580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6385C"/>
                </a:solidFill>
                <a:latin typeface="微软雅黑" panose="020B0503020204020204" charset="-122"/>
              </a:rPr>
              <a:t>Agent核心：发现问题 → 判断需要什么信息 → 主动寻找证据 → 推理 → 必要时继续检索 → 形成结论</a:t>
            </a:r>
            <a:endParaRPr sz="17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206240" y="5074920"/>
            <a:ext cx="1645920" cy="548640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主动分析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035040" y="5074920"/>
            <a:ext cx="2011680" cy="548640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动态补充编码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5852160" y="5349240"/>
            <a:ext cx="182880" cy="0"/>
          </a:xfrm>
          <a:prstGeom prst="line">
            <a:avLst/>
          </a:prstGeom>
          <a:ln w="1778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16385C"/>
                </a:solidFill>
                <a:latin typeface="微软雅黑" panose="020B0503020204020204" charset="-122"/>
              </a:rPr>
              <a:t>十一、Agent动态补充编码：把“漏编发现”重新送入编码链路</a:t>
            </a:r>
            <a:endParaRPr sz="27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5C6875"/>
                </a:solidFill>
                <a:latin typeface="微软雅黑" panose="020B0503020204020204" charset="-122"/>
              </a:rPr>
              <a:t>当Agent发现病历存在当前编码没有覆盖的疾病时，自动触发进一步分析</a:t>
            </a:r>
            <a:endParaRPr sz="11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914400" cy="54864"/>
          </a:xfrm>
          <a:prstGeom prst="rect">
            <a:avLst/>
          </a:prstGeom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r"/>
            <a:r>
              <a:rPr sz="900" b="0">
                <a:solidFill>
                  <a:srgbClr val="5C6875"/>
                </a:solidFill>
                <a:latin typeface="微软雅黑" panose="020B0503020204020204" charset="-122"/>
              </a:rPr>
              <a:t>12</a:t>
            </a:r>
            <a:endParaRPr sz="9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1371600" cy="96012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01</a:t>
            </a:r>
            <a:br>
              <a:rPr sz="1000" b="1">
                <a:solidFill>
                  <a:srgbClr val="16385C"/>
                </a:solidFill>
                <a:latin typeface="微软雅黑" panose="020B0503020204020204" charset="-122"/>
              </a:rPr>
            </a:br>
            <a:r>
              <a:t>发现潜在遗漏疾病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7360" y="1892808"/>
            <a:ext cx="274320" cy="0"/>
          </a:xfrm>
          <a:prstGeom prst="line">
            <a:avLst/>
          </a:prstGeom>
          <a:ln w="1397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11680" y="1417320"/>
            <a:ext cx="1371600" cy="96012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02</a:t>
            </a:r>
            <a:br>
              <a:rPr sz="1000" b="1">
                <a:solidFill>
                  <a:srgbClr val="16385C"/>
                </a:solidFill>
                <a:latin typeface="微软雅黑" panose="020B0503020204020204" charset="-122"/>
              </a:rPr>
            </a:br>
            <a:r>
              <a:t>提取疾病实体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0" y="1892808"/>
            <a:ext cx="274320" cy="0"/>
          </a:xfrm>
          <a:prstGeom prst="line">
            <a:avLst/>
          </a:prstGeom>
          <a:ln w="1397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57600" y="1417320"/>
            <a:ext cx="1371600" cy="96012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03</a:t>
            </a:r>
            <a:br>
              <a:rPr sz="1000" b="1">
                <a:solidFill>
                  <a:srgbClr val="16385C"/>
                </a:solidFill>
                <a:latin typeface="微软雅黑" panose="020B0503020204020204" charset="-122"/>
              </a:rPr>
            </a:br>
            <a:r>
              <a:t>判断是否独立疾病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29200" y="1892808"/>
            <a:ext cx="274320" cy="0"/>
          </a:xfrm>
          <a:prstGeom prst="line">
            <a:avLst/>
          </a:prstGeom>
          <a:ln w="1397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03520" y="1417320"/>
            <a:ext cx="1371600" cy="96012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04</a:t>
            </a:r>
            <a:br>
              <a:rPr sz="1000" b="1">
                <a:solidFill>
                  <a:srgbClr val="16385C"/>
                </a:solidFill>
                <a:latin typeface="微软雅黑" panose="020B0503020204020204" charset="-122"/>
              </a:rPr>
            </a:br>
            <a:r>
              <a:t>寻找病历证据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75120" y="1892808"/>
            <a:ext cx="274320" cy="0"/>
          </a:xfrm>
          <a:prstGeom prst="line">
            <a:avLst/>
          </a:prstGeom>
          <a:ln w="1397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49440" y="1417320"/>
            <a:ext cx="1371600" cy="96012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05</a:t>
            </a:r>
            <a:br>
              <a:rPr sz="1000" b="1">
                <a:solidFill>
                  <a:srgbClr val="16385C"/>
                </a:solidFill>
                <a:latin typeface="微软雅黑" panose="020B0503020204020204" charset="-122"/>
              </a:rPr>
            </a:br>
            <a:r>
              <a:t>确认疾病成立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21040" y="1892808"/>
            <a:ext cx="274320" cy="0"/>
          </a:xfrm>
          <a:prstGeom prst="line">
            <a:avLst/>
          </a:prstGeom>
          <a:ln w="1397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95360" y="1417320"/>
            <a:ext cx="1371600" cy="96012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06</a:t>
            </a:r>
            <a:br>
              <a:rPr sz="1000" b="1">
                <a:solidFill>
                  <a:srgbClr val="16385C"/>
                </a:solidFill>
                <a:latin typeface="微软雅黑" panose="020B0503020204020204" charset="-122"/>
              </a:rPr>
            </a:br>
            <a:r>
              <a:t>进入智能编码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966960" y="1892808"/>
            <a:ext cx="274320" cy="0"/>
          </a:xfrm>
          <a:prstGeom prst="line">
            <a:avLst/>
          </a:prstGeom>
          <a:ln w="1397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241280" y="1417320"/>
            <a:ext cx="1371600" cy="96012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07</a:t>
            </a:r>
            <a:br>
              <a:rPr sz="1000" b="1">
                <a:solidFill>
                  <a:srgbClr val="16385C"/>
                </a:solidFill>
                <a:latin typeface="微软雅黑" panose="020B0503020204020204" charset="-122"/>
              </a:rPr>
            </a:br>
            <a:r>
              <a:t>Query Rewrite</a:t>
            </a:r>
          </a:p>
          <a:p>
            <a:pPr algn="ctr"/>
            <a:r>
              <a:rPr lang="zh-CN"/>
              <a:t>查询改写</a:t>
            </a:r>
            <a:endParaRPr lang="zh-CN"/>
          </a:p>
        </p:txBody>
      </p:sp>
      <p:sp>
        <p:nvSpPr>
          <p:cNvPr id="19" name="Rounded Rectangle 18"/>
          <p:cNvSpPr/>
          <p:nvPr/>
        </p:nvSpPr>
        <p:spPr>
          <a:xfrm>
            <a:off x="365760" y="3337560"/>
            <a:ext cx="1371600" cy="96012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08</a:t>
            </a:r>
            <a:br>
              <a:rPr sz="1000" b="1">
                <a:solidFill>
                  <a:srgbClr val="16385C"/>
                </a:solidFill>
                <a:latin typeface="微软雅黑" panose="020B0503020204020204" charset="-122"/>
              </a:rPr>
            </a:br>
            <a:r>
              <a:t>Hybrid Search</a:t>
            </a:r>
          </a:p>
          <a:p>
            <a:pPr algn="ctr"/>
            <a:r>
              <a:rPr lang="zh-CN"/>
              <a:t>混合检索</a:t>
            </a:r>
            <a:endParaRPr lang="zh-CN"/>
          </a:p>
        </p:txBody>
      </p:sp>
      <p:cxnSp>
        <p:nvCxnSpPr>
          <p:cNvPr id="20" name="Connector 19"/>
          <p:cNvCxnSpPr/>
          <p:nvPr/>
        </p:nvCxnSpPr>
        <p:spPr>
          <a:xfrm>
            <a:off x="1737360" y="3813048"/>
            <a:ext cx="274320" cy="0"/>
          </a:xfrm>
          <a:prstGeom prst="line">
            <a:avLst/>
          </a:prstGeom>
          <a:ln w="1397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011680" y="3337560"/>
            <a:ext cx="1371600" cy="96012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09</a:t>
            </a:r>
            <a:br>
              <a:rPr sz="1000" b="1">
                <a:solidFill>
                  <a:srgbClr val="16385C"/>
                </a:solidFill>
                <a:latin typeface="微软雅黑" panose="020B0503020204020204" charset="-122"/>
              </a:rPr>
            </a:br>
            <a:r>
              <a:t>Rerank</a:t>
            </a:r>
          </a:p>
          <a:p>
            <a:pPr algn="ctr"/>
            <a:r>
              <a:rPr lang="zh-CN"/>
              <a:t>候选结果重排序</a:t>
            </a:r>
            <a:endParaRPr lang="zh-CN"/>
          </a:p>
        </p:txBody>
      </p:sp>
      <p:cxnSp>
        <p:nvCxnSpPr>
          <p:cNvPr id="22" name="Connector 21"/>
          <p:cNvCxnSpPr/>
          <p:nvPr/>
        </p:nvCxnSpPr>
        <p:spPr>
          <a:xfrm>
            <a:off x="3383280" y="3813048"/>
            <a:ext cx="274320" cy="0"/>
          </a:xfrm>
          <a:prstGeom prst="line">
            <a:avLst/>
          </a:prstGeom>
          <a:ln w="1397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57600" y="3337560"/>
            <a:ext cx="1371600" cy="96012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10</a:t>
            </a:r>
            <a:br>
              <a:rPr sz="1000" b="1">
                <a:solidFill>
                  <a:srgbClr val="16385C"/>
                </a:solidFill>
                <a:latin typeface="微软雅黑" panose="020B0503020204020204" charset="-122"/>
              </a:rPr>
            </a:br>
            <a:r>
              <a:t>LLM语义推理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0" y="3813048"/>
            <a:ext cx="274320" cy="0"/>
          </a:xfrm>
          <a:prstGeom prst="line">
            <a:avLst/>
          </a:prstGeom>
          <a:ln w="1397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303520" y="3337560"/>
            <a:ext cx="1371600" cy="960120"/>
          </a:xfrm>
          <a:prstGeom prst="roundRect">
            <a:avLst/>
          </a:prstGeom>
          <a:solidFill>
            <a:srgbClr val="FFC000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buClrTx/>
              <a:buSzTx/>
              <a:buFontTx/>
            </a:pPr>
            <a:r>
              <a:rPr sz="1000" b="1">
                <a:solidFill>
                  <a:srgbClr val="16385C"/>
                </a:solidFill>
                <a:latin typeface="微软雅黑" panose="020B0503020204020204" charset="-122"/>
              </a:rPr>
              <a:t>11</a:t>
            </a:r>
            <a:br>
              <a:rPr sz="1000" b="1">
                <a:solidFill>
                  <a:srgbClr val="16385C"/>
                </a:solidFill>
                <a:latin typeface="微软雅黑" panose="020B0503020204020204" charset="-122"/>
              </a:rPr>
            </a:br>
            <a:r>
              <a:t>规则校验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75120" y="3813048"/>
            <a:ext cx="274320" cy="0"/>
          </a:xfrm>
          <a:prstGeom prst="line">
            <a:avLst/>
          </a:prstGeom>
          <a:ln w="1397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949440" y="3337560"/>
            <a:ext cx="1371600" cy="960120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12</a:t>
            </a:r>
            <a:br>
              <a:rPr sz="1000" b="1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t>新增编码建议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21040" y="3813048"/>
            <a:ext cx="274320" cy="0"/>
          </a:xfrm>
          <a:prstGeom prst="line">
            <a:avLst/>
          </a:prstGeom>
          <a:ln w="1397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595360" y="3337560"/>
            <a:ext cx="1371600" cy="960120"/>
          </a:xfrm>
          <a:prstGeom prst="roundRect">
            <a:avLst/>
          </a:prstGeom>
          <a:solidFill>
            <a:srgbClr val="16385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13</a:t>
            </a:r>
            <a:br>
              <a:rPr sz="1000" b="1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t>人工确认</a:t>
            </a:r>
          </a:p>
        </p:txBody>
      </p:sp>
      <p:cxnSp>
        <p:nvCxnSpPr>
          <p:cNvPr id="31" name="Connector 30"/>
          <p:cNvCxnSpPr>
            <a:stCxn id="18" idx="2"/>
            <a:endCxn id="19" idx="0"/>
          </p:cNvCxnSpPr>
          <p:nvPr/>
        </p:nvCxnSpPr>
        <p:spPr>
          <a:xfrm flipH="1">
            <a:off x="1051560" y="2377440"/>
            <a:ext cx="9875520" cy="960120"/>
          </a:xfrm>
          <a:prstGeom prst="line">
            <a:avLst/>
          </a:prstGeom>
          <a:ln w="1524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22960" y="5074920"/>
            <a:ext cx="2926080" cy="32004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400" b="1">
                <a:solidFill>
                  <a:srgbClr val="16385C"/>
                </a:solidFill>
                <a:latin typeface="微软雅黑" panose="020B0503020204020204" charset="-122"/>
              </a:rPr>
              <a:t>系统最终能够回答两类问题：</a:t>
            </a:r>
            <a:endParaRPr sz="14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749039" y="4892040"/>
            <a:ext cx="3017520" cy="64008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6385C"/>
                </a:solidFill>
                <a:latin typeface="微软雅黑" panose="020B0503020204020204" charset="-122"/>
              </a:rPr>
              <a:t>① 这个诊断应该编码什么？</a:t>
            </a:r>
            <a:endParaRPr sz="16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995160" y="4892040"/>
            <a:ext cx="3749039" cy="64008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6385C"/>
                </a:solidFill>
                <a:latin typeface="微软雅黑" panose="020B0503020204020204" charset="-122"/>
              </a:rPr>
              <a:t>② 这份病历还有什么可能没有编码？</a:t>
            </a:r>
            <a:endParaRPr sz="16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16385C"/>
                </a:solidFill>
                <a:latin typeface="微软雅黑" panose="020B0503020204020204" charset="-122"/>
              </a:rPr>
              <a:t>十二、典型案例：左胫骨平台粉碎性骨折</a:t>
            </a:r>
            <a:endParaRPr sz="27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5C6875"/>
                </a:solidFill>
                <a:latin typeface="微软雅黑" panose="020B0503020204020204" charset="-122"/>
              </a:rPr>
              <a:t>展示从临床语言理解到编码推荐、证据验证的完整过程</a:t>
            </a:r>
            <a:endParaRPr sz="11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914400" cy="54864"/>
          </a:xfrm>
          <a:prstGeom prst="rect">
            <a:avLst/>
          </a:prstGeom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r"/>
            <a:r>
              <a:rPr sz="900" b="0">
                <a:solidFill>
                  <a:srgbClr val="5C6875"/>
                </a:solidFill>
                <a:latin typeface="微软雅黑" panose="020B0503020204020204" charset="-122"/>
              </a:rPr>
              <a:t>13</a:t>
            </a:r>
            <a:endParaRPr sz="9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2834640" cy="594360"/>
          </a:xfrm>
          <a:prstGeom prst="roundRect">
            <a:avLst/>
          </a:prstGeom>
          <a:solidFill>
            <a:srgbClr val="16385C"/>
          </a:solidFill>
          <a:ln w="12700">
            <a:solidFill>
              <a:srgbClr val="1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医生原始描述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834640" cy="1417955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32B34"/>
                </a:solidFill>
                <a:latin typeface="微软雅黑" panose="020B0503020204020204" charset="-122"/>
              </a:rPr>
              <a:t>“左胫骨平台粉碎性骨折，</a:t>
            </a:r>
            <a:br>
              <a:rPr sz="14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400">
                <a:solidFill>
                  <a:srgbClr val="232B34"/>
                </a:solidFill>
                <a:latin typeface="微软雅黑" panose="020B0503020204020204" charset="-122"/>
              </a:rPr>
              <a:t>行切开复位内固定术。”</a:t>
            </a:r>
            <a:endParaRPr sz="14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703320" y="1325880"/>
            <a:ext cx="2834640" cy="594360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医学语义理解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703320" y="2011680"/>
            <a:ext cx="2834640" cy="141732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buClrTx/>
              <a:buSzTx/>
              <a:buFontTx/>
            </a:pPr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疾病：骨折</a:t>
            </a:r>
            <a:br>
              <a:rPr sz="13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部位：胫骨平台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侧别：左侧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性质：粉碎性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手术：切开复位内固定</a:t>
            </a:r>
            <a:endParaRPr sz="13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0" y="1325880"/>
            <a:ext cx="2148840" cy="594360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全病历证据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858000" y="2011680"/>
            <a:ext cx="2148840" cy="141732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buClrTx/>
              <a:buSzTx/>
              <a:buFontTx/>
            </a:pPr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入院记录</a:t>
            </a:r>
            <a:br>
              <a:rPr sz="13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病程记录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影像报告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手术记录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出院记录</a:t>
            </a:r>
            <a:endParaRPr sz="13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326880" y="1325880"/>
            <a:ext cx="2286000" cy="594360"/>
          </a:xfrm>
          <a:prstGeom prst="roundRect">
            <a:avLst/>
          </a:prstGeom>
          <a:solidFill>
            <a:srgbClr val="448F5B"/>
          </a:solidFill>
          <a:ln w="12700">
            <a:solidFill>
              <a:srgbClr val="44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最终输出</a:t>
            </a:r>
            <a:endParaRPr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326880" y="2011680"/>
            <a:ext cx="2286000" cy="141732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buClrTx/>
              <a:buSzTx/>
              <a:buFontTx/>
            </a:pPr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推荐诊断</a:t>
            </a:r>
            <a:br>
              <a:rPr sz="13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推荐编码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推荐理由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证据来源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置信度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人工审核</a:t>
            </a:r>
            <a:endParaRPr sz="13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3383280" y="2697480"/>
            <a:ext cx="320040" cy="0"/>
          </a:xfrm>
          <a:prstGeom prst="line">
            <a:avLst/>
          </a:prstGeom>
          <a:ln w="1905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37960" y="2697480"/>
            <a:ext cx="320040" cy="0"/>
          </a:xfrm>
          <a:prstGeom prst="line">
            <a:avLst/>
          </a:prstGeom>
          <a:ln w="1905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006840" y="2697480"/>
            <a:ext cx="320040" cy="0"/>
          </a:xfrm>
          <a:prstGeom prst="line">
            <a:avLst/>
          </a:prstGeom>
          <a:ln w="1905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97280" y="4160520"/>
            <a:ext cx="9966960" cy="77724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6385C"/>
                </a:solidFill>
                <a:latin typeface="微软雅黑" panose="020B0503020204020204" charset="-122"/>
              </a:rPr>
              <a:t>若全病历还发现独立的膝关节损伤、韧带损伤等诊断，则进一步判断是否存在漏编。</a:t>
            </a:r>
            <a:endParaRPr sz="15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16385C"/>
                </a:solidFill>
                <a:latin typeface="微软雅黑" panose="020B0503020204020204" charset="-122"/>
              </a:rPr>
              <a:t>十三、核心数据体系：让每个AI结论都有“证据链”</a:t>
            </a:r>
            <a:endParaRPr sz="27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5C6875"/>
                </a:solidFill>
                <a:latin typeface="微软雅黑" panose="020B0503020204020204" charset="-122"/>
              </a:rPr>
              <a:t>围绕患者—就诊—病历—临床事实—证据—编码—质控—审核形成完整数据链</a:t>
            </a:r>
            <a:endParaRPr sz="11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914400" cy="54864"/>
          </a:xfrm>
          <a:prstGeom prst="rect">
            <a:avLst/>
          </a:prstGeom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r"/>
            <a:r>
              <a:rPr sz="900" b="0">
                <a:solidFill>
                  <a:srgbClr val="5C6875"/>
                </a:solidFill>
                <a:latin typeface="微软雅黑" panose="020B0503020204020204" charset="-122"/>
              </a:rPr>
              <a:t>14</a:t>
            </a:r>
            <a:endParaRPr sz="9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74320" y="1828800"/>
            <a:ext cx="914400" cy="658368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6385C"/>
                </a:solidFill>
                <a:latin typeface="微软雅黑" panose="020B0503020204020204" charset="-122"/>
              </a:rPr>
              <a:t>患者</a:t>
            </a:r>
            <a:endParaRPr sz="11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1188720" y="2157984"/>
            <a:ext cx="164592" cy="0"/>
          </a:xfrm>
          <a:prstGeom prst="line">
            <a:avLst/>
          </a:prstGeom>
          <a:ln w="127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353312" y="1828800"/>
            <a:ext cx="914400" cy="658368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6385C"/>
                </a:solidFill>
                <a:latin typeface="微软雅黑" panose="020B0503020204020204" charset="-122"/>
              </a:rPr>
              <a:t>就诊</a:t>
            </a:r>
            <a:endParaRPr sz="11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267712" y="2157984"/>
            <a:ext cx="164592" cy="0"/>
          </a:xfrm>
          <a:prstGeom prst="line">
            <a:avLst/>
          </a:prstGeom>
          <a:ln w="127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32303" y="1828800"/>
            <a:ext cx="914400" cy="658368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6385C"/>
                </a:solidFill>
                <a:latin typeface="微软雅黑" panose="020B0503020204020204" charset="-122"/>
              </a:rPr>
              <a:t>病历文档</a:t>
            </a:r>
            <a:endParaRPr sz="11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3346703" y="2157984"/>
            <a:ext cx="164593" cy="0"/>
          </a:xfrm>
          <a:prstGeom prst="line">
            <a:avLst/>
          </a:prstGeom>
          <a:ln w="127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11296" y="1828800"/>
            <a:ext cx="914400" cy="658368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6385C"/>
                </a:solidFill>
                <a:latin typeface="微软雅黑" panose="020B0503020204020204" charset="-122"/>
              </a:rPr>
              <a:t>病历段落/文本块</a:t>
            </a:r>
            <a:endParaRPr sz="11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4425696" y="2157984"/>
            <a:ext cx="164592" cy="0"/>
          </a:xfrm>
          <a:prstGeom prst="line">
            <a:avLst/>
          </a:prstGeom>
          <a:ln w="127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90288" y="1828800"/>
            <a:ext cx="914400" cy="658368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6385C"/>
                </a:solidFill>
                <a:latin typeface="微软雅黑" panose="020B0503020204020204" charset="-122"/>
              </a:rPr>
              <a:t>临床事实</a:t>
            </a:r>
            <a:endParaRPr sz="11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504688" y="2157984"/>
            <a:ext cx="164591" cy="0"/>
          </a:xfrm>
          <a:prstGeom prst="line">
            <a:avLst/>
          </a:prstGeom>
          <a:ln w="127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669279" y="1828800"/>
            <a:ext cx="914400" cy="658368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6385C"/>
                </a:solidFill>
                <a:latin typeface="微软雅黑" panose="020B0503020204020204" charset="-122"/>
              </a:rPr>
              <a:t>医学证据</a:t>
            </a:r>
            <a:endParaRPr sz="11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6583679" y="2157984"/>
            <a:ext cx="164592" cy="0"/>
          </a:xfrm>
          <a:prstGeom prst="line">
            <a:avLst/>
          </a:prstGeom>
          <a:ln w="127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748272" y="1828800"/>
            <a:ext cx="914400" cy="658368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6385C"/>
                </a:solidFill>
                <a:latin typeface="微软雅黑" panose="020B0503020204020204" charset="-122"/>
              </a:rPr>
              <a:t>编码候选</a:t>
            </a:r>
            <a:endParaRPr sz="11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7662671" y="2157984"/>
            <a:ext cx="164593" cy="0"/>
          </a:xfrm>
          <a:prstGeom prst="line">
            <a:avLst/>
          </a:prstGeom>
          <a:ln w="127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827264" y="1828800"/>
            <a:ext cx="914400" cy="658368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6385C"/>
                </a:solidFill>
                <a:latin typeface="微软雅黑" panose="020B0503020204020204" charset="-122"/>
              </a:rPr>
              <a:t>AI推荐</a:t>
            </a:r>
            <a:endParaRPr sz="11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8741664" y="2157984"/>
            <a:ext cx="164592" cy="0"/>
          </a:xfrm>
          <a:prstGeom prst="line">
            <a:avLst/>
          </a:prstGeom>
          <a:ln w="127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906256" y="1828800"/>
            <a:ext cx="914400" cy="658368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1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6385C"/>
                </a:solidFill>
                <a:latin typeface="微软雅黑" panose="020B0503020204020204" charset="-122"/>
              </a:rPr>
              <a:t>质控问题</a:t>
            </a:r>
            <a:endParaRPr sz="11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9820656" y="2157984"/>
            <a:ext cx="164592" cy="0"/>
          </a:xfrm>
          <a:prstGeom prst="line">
            <a:avLst/>
          </a:prstGeom>
          <a:ln w="127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985248" y="1828800"/>
            <a:ext cx="914400" cy="658368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1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6385C"/>
                </a:solidFill>
                <a:latin typeface="微软雅黑" panose="020B0503020204020204" charset="-122"/>
              </a:rPr>
              <a:t>人工审核</a:t>
            </a:r>
            <a:endParaRPr sz="11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10899648" y="2157984"/>
            <a:ext cx="164592" cy="0"/>
          </a:xfrm>
          <a:prstGeom prst="line">
            <a:avLst/>
          </a:prstGeom>
          <a:ln w="1270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1064240" y="1828800"/>
            <a:ext cx="914400" cy="658368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1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6385C"/>
                </a:solidFill>
                <a:latin typeface="微软雅黑" panose="020B0503020204020204" charset="-122"/>
              </a:rPr>
              <a:t>最终编码</a:t>
            </a:r>
            <a:endParaRPr sz="11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40080" y="3657600"/>
            <a:ext cx="1280160" cy="502920"/>
          </a:xfrm>
          <a:prstGeom prst="roundRect">
            <a:avLst/>
          </a:prstGeom>
          <a:solidFill>
            <a:srgbClr val="16385C"/>
          </a:solidFill>
          <a:ln w="12700">
            <a:solidFill>
              <a:srgbClr val="1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同时记录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148840" y="3566160"/>
            <a:ext cx="1143000" cy="6400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232B34"/>
                </a:solidFill>
                <a:latin typeface="微软雅黑" panose="020B0503020204020204" charset="-122"/>
              </a:rPr>
              <a:t>AI模型版本</a:t>
            </a:r>
            <a:endParaRPr sz="1000" b="1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474720" y="3566160"/>
            <a:ext cx="1143000" cy="6400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232B34"/>
                </a:solidFill>
                <a:latin typeface="微软雅黑" panose="020B0503020204020204" charset="-122"/>
              </a:rPr>
              <a:t>Prompt版本</a:t>
            </a:r>
            <a:endParaRPr sz="1000" b="1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800600" y="3566160"/>
            <a:ext cx="1143000" cy="6400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232B34"/>
                </a:solidFill>
                <a:latin typeface="微软雅黑" panose="020B0503020204020204" charset="-122"/>
              </a:rPr>
              <a:t>知识库版本</a:t>
            </a:r>
            <a:endParaRPr sz="1000" b="1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126479" y="3566160"/>
            <a:ext cx="1143000" cy="6400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232B34"/>
                </a:solidFill>
                <a:latin typeface="微软雅黑" panose="020B0503020204020204" charset="-122"/>
              </a:rPr>
              <a:t>编码规则版本</a:t>
            </a:r>
            <a:endParaRPr sz="1000" b="1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452360" y="3566160"/>
            <a:ext cx="1143000" cy="6400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232B34"/>
                </a:solidFill>
                <a:latin typeface="微软雅黑" panose="020B0503020204020204" charset="-122"/>
              </a:rPr>
              <a:t>检索结果</a:t>
            </a:r>
            <a:endParaRPr sz="1000" b="1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778240" y="3566160"/>
            <a:ext cx="1143000" cy="6400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232B34"/>
                </a:solidFill>
                <a:latin typeface="微软雅黑" panose="020B0503020204020204" charset="-122"/>
              </a:rPr>
              <a:t>推理过程</a:t>
            </a:r>
            <a:endParaRPr sz="1000" b="1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0104119" y="3566160"/>
            <a:ext cx="1143000" cy="6400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232B34"/>
                </a:solidFill>
                <a:latin typeface="微软雅黑" panose="020B0503020204020204" charset="-122"/>
              </a:rPr>
              <a:t>人工修改记录</a:t>
            </a:r>
            <a:endParaRPr sz="1000" b="1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383280" y="4892040"/>
            <a:ext cx="5394960" cy="64008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6385C"/>
                </a:solidFill>
                <a:latin typeface="微软雅黑" panose="020B0503020204020204" charset="-122"/>
              </a:rPr>
              <a:t>追溯 ｜ 解释 ｜ 复核 ｜ 审计</a:t>
            </a:r>
            <a:endParaRPr sz="20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16385C"/>
                </a:solidFill>
                <a:latin typeface="微软雅黑" panose="020B0503020204020204" charset="-122"/>
              </a:rPr>
              <a:t>十四、数据与知识底座：结构化存储 + 全文检索 + 语义检索</a:t>
            </a:r>
            <a:endParaRPr sz="27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5C6875"/>
                </a:solidFill>
                <a:latin typeface="微软雅黑" panose="020B0503020204020204" charset="-122"/>
              </a:rPr>
              <a:t>统一支撑三大业务，避免每个业务重复建设数据与检索能力</a:t>
            </a:r>
            <a:endParaRPr sz="11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914400" cy="54864"/>
          </a:xfrm>
          <a:prstGeom prst="rect">
            <a:avLst/>
          </a:prstGeom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r"/>
            <a:r>
              <a:rPr sz="900" b="0">
                <a:solidFill>
                  <a:srgbClr val="5C6875"/>
                </a:solidFill>
                <a:latin typeface="微软雅黑" panose="020B0503020204020204" charset="-122"/>
              </a:rPr>
              <a:t>15</a:t>
            </a:r>
            <a:endParaRPr sz="9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011680" cy="640080"/>
          </a:xfrm>
          <a:prstGeom prst="roundRect">
            <a:avLst/>
          </a:prstGeom>
          <a:solidFill>
            <a:srgbClr val="448F5B"/>
          </a:solidFill>
          <a:ln w="12700">
            <a:solidFill>
              <a:srgbClr val="44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医疗数据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2011680" cy="1143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buClrTx/>
              <a:buSzTx/>
              <a:buFontTx/>
            </a:pPr>
            <a:r>
              <a:rPr sz="1200" b="0">
                <a:solidFill>
                  <a:srgbClr val="232B34"/>
                </a:solidFill>
                <a:latin typeface="微软雅黑" panose="020B0503020204020204" charset="-122"/>
              </a:rPr>
              <a:t>患者 / 就诊 / 病历 / 检验检查</a:t>
            </a:r>
            <a:br>
              <a:rPr sz="12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200">
                <a:solidFill>
                  <a:srgbClr val="232B34"/>
                </a:solidFill>
                <a:latin typeface="微软雅黑" panose="020B0503020204020204" charset="-122"/>
              </a:rPr>
              <a:t>手术 / 医嘱 / 病案首页 / 当前编码</a:t>
            </a:r>
            <a:endParaRPr sz="12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886200" y="1372235"/>
            <a:ext cx="2011680" cy="640080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知识数据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886200" y="2103755"/>
            <a:ext cx="2011680" cy="1143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buClrTx/>
              <a:buSzTx/>
              <a:buFontTx/>
            </a:pPr>
            <a:r>
              <a:rPr sz="1200" b="0">
                <a:solidFill>
                  <a:srgbClr val="232B34"/>
                </a:solidFill>
                <a:latin typeface="微软雅黑" panose="020B0503020204020204" charset="-122"/>
              </a:rPr>
              <a:t>ICD-10 / ICD-9-CM-3</a:t>
            </a:r>
            <a:br>
              <a:rPr sz="12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200">
                <a:solidFill>
                  <a:srgbClr val="232B34"/>
                </a:solidFill>
                <a:latin typeface="微软雅黑" panose="020B0503020204020204" charset="-122"/>
              </a:rPr>
              <a:t>术语 / 同义词 / 规则 / 案例</a:t>
            </a:r>
            <a:endParaRPr sz="12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3840480"/>
            <a:ext cx="1645920" cy="59436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6385C"/>
                </a:solidFill>
                <a:latin typeface="微软雅黑" panose="020B0503020204020204" charset="-122"/>
              </a:rPr>
              <a:t>SQL Server</a:t>
            </a:r>
            <a:endParaRPr sz="15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864610" y="3841115"/>
            <a:ext cx="2033270" cy="59436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6385C"/>
                </a:solidFill>
                <a:latin typeface="微软雅黑" panose="020B0503020204020204" charset="-122"/>
              </a:rPr>
              <a:t>Elasticsearch</a:t>
            </a:r>
            <a:endParaRPr sz="15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269480" y="3839845"/>
            <a:ext cx="2294890" cy="59436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6385C"/>
                </a:solidFill>
                <a:latin typeface="微软雅黑" panose="020B0503020204020204" charset="-122"/>
              </a:rPr>
              <a:t>Vector Store / ES Vector</a:t>
            </a:r>
            <a:endParaRPr sz="14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1508760" y="3246120"/>
            <a:ext cx="0" cy="594360"/>
          </a:xfrm>
          <a:prstGeom prst="line">
            <a:avLst/>
          </a:prstGeom>
          <a:ln w="1651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endCxn id="11" idx="0"/>
          </p:cNvCxnSpPr>
          <p:nvPr/>
        </p:nvCxnSpPr>
        <p:spPr>
          <a:xfrm flipH="1">
            <a:off x="4881245" y="3246755"/>
            <a:ext cx="10795" cy="594360"/>
          </a:xfrm>
          <a:prstGeom prst="line">
            <a:avLst/>
          </a:prstGeom>
          <a:ln w="1651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69480" y="1371600"/>
            <a:ext cx="2286000" cy="640080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统一检索服务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269480" y="2102485"/>
            <a:ext cx="2286000" cy="1156335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buClrTx/>
              <a:buSzTx/>
              <a:buFontTx/>
            </a:pPr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关键词 + 模糊 + 多字段</a:t>
            </a:r>
            <a:br>
              <a:rPr sz="13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语义向量 + 混合检索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候选召回 + Rerank</a:t>
            </a:r>
            <a:endParaRPr sz="13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cxnSp>
        <p:nvCxnSpPr>
          <p:cNvPr id="17" name="Connector 16"/>
          <p:cNvCxnSpPr>
            <a:stCxn id="12" idx="0"/>
            <a:endCxn id="16" idx="2"/>
          </p:cNvCxnSpPr>
          <p:nvPr/>
        </p:nvCxnSpPr>
        <p:spPr>
          <a:xfrm flipH="1" flipV="1">
            <a:off x="8412480" y="3258692"/>
            <a:ext cx="4445" cy="581025"/>
          </a:xfrm>
          <a:prstGeom prst="line">
            <a:avLst/>
          </a:prstGeom>
          <a:ln w="21590">
            <a:solidFill>
              <a:srgbClr val="2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08910" y="5269865"/>
            <a:ext cx="4356100" cy="640080"/>
          </a:xfrm>
          <a:prstGeom prst="roundRect">
            <a:avLst/>
          </a:prstGeom>
          <a:solidFill>
            <a:srgbClr val="16385C"/>
          </a:solidFill>
          <a:ln w="12700">
            <a:solidFill>
              <a:srgbClr val="1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服务智能编码｜智能质控｜Agent分析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16385C"/>
                </a:solidFill>
                <a:latin typeface="微软雅黑" panose="020B0503020204020204" charset="-122"/>
              </a:rPr>
              <a:t>十五、安全、证据与审计：AI辅助决策，人工最终确认</a:t>
            </a:r>
            <a:endParaRPr sz="27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5C6875"/>
                </a:solidFill>
                <a:latin typeface="微软雅黑" panose="020B0503020204020204" charset="-122"/>
              </a:rPr>
              <a:t>医疗数据安全与AI可控性是平台落地的基础</a:t>
            </a:r>
            <a:endParaRPr sz="11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914400" cy="54864"/>
          </a:xfrm>
          <a:prstGeom prst="rect">
            <a:avLst/>
          </a:prstGeom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r"/>
            <a:r>
              <a:rPr sz="900" b="0">
                <a:solidFill>
                  <a:srgbClr val="5C6875"/>
                </a:solidFill>
                <a:latin typeface="微软雅黑" panose="020B0503020204020204" charset="-122"/>
              </a:rPr>
              <a:t>16</a:t>
            </a:r>
            <a:endParaRPr sz="9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594360" y="1417320"/>
            <a:ext cx="3246120" cy="640080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数据安全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2"/>
            </p:custDataLst>
          </p:nvPr>
        </p:nvSpPr>
        <p:spPr>
          <a:xfrm>
            <a:off x="594360" y="2505075"/>
            <a:ext cx="3246120" cy="186182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buClrTx/>
              <a:buSzTx/>
              <a:buFontTx/>
            </a:pPr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• 患者数据权限控制</a:t>
            </a:r>
            <a:br>
              <a:rPr sz="13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数据访问控制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敏感数据保护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传输加密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数据库权限管理</a:t>
            </a:r>
            <a:endParaRPr sz="13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3"/>
            </p:custDataLst>
          </p:nvPr>
        </p:nvSpPr>
        <p:spPr>
          <a:xfrm>
            <a:off x="4434840" y="1417320"/>
            <a:ext cx="3246120" cy="640080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AI安全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4"/>
            </p:custDataLst>
          </p:nvPr>
        </p:nvSpPr>
        <p:spPr>
          <a:xfrm>
            <a:off x="4434840" y="2505075"/>
            <a:ext cx="3246120" cy="1861185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buClrTx/>
              <a:buSzTx/>
              <a:buFontTx/>
            </a:pPr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• AI只能读取授权病历</a:t>
            </a:r>
            <a:br>
              <a:rPr sz="13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不能直接修改原始病历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推荐结果必须审核确认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输出保留证据来源</a:t>
            </a:r>
            <a:endParaRPr sz="13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8275320" y="1417320"/>
            <a:ext cx="3246120" cy="640080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审计能力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6"/>
            </p:custDataLst>
          </p:nvPr>
        </p:nvSpPr>
        <p:spPr>
          <a:xfrm>
            <a:off x="8275320" y="2505075"/>
            <a:ext cx="3246120" cy="186182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buClrTx/>
              <a:buSzTx/>
              <a:buFontTx/>
            </a:pPr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• 谁 / 何时 / 查看什么</a:t>
            </a:r>
            <a:br>
              <a:rPr sz="13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AI分析了什么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推荐了什么、为什么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人工修改什么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最终确认什么</a:t>
            </a:r>
            <a:endParaRPr sz="13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325880" y="5074920"/>
            <a:ext cx="9509760" cy="68580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6385C"/>
                </a:solidFill>
                <a:latin typeface="微软雅黑" panose="020B0503020204020204" charset="-122"/>
              </a:rPr>
              <a:t>原则：AI给建议、给证据、给理由；专业人员最终审核确认。</a:t>
            </a:r>
            <a:endParaRPr sz="18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16385C"/>
                </a:solidFill>
                <a:latin typeface="微软雅黑" panose="020B0503020204020204" charset="-122"/>
              </a:rPr>
              <a:t>十六、建设路线：三阶段演进，不是一开始就追求“大而全”</a:t>
            </a:r>
            <a:endParaRPr sz="27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5C6875"/>
                </a:solidFill>
                <a:latin typeface="微软雅黑" panose="020B0503020204020204" charset="-122"/>
              </a:rPr>
              <a:t>每一阶段形成可落地能力，后一阶段复用前一阶段数据、知识与AI能力</a:t>
            </a:r>
            <a:endParaRPr sz="11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914400" cy="54864"/>
          </a:xfrm>
          <a:prstGeom prst="rect">
            <a:avLst/>
          </a:prstGeom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r"/>
            <a:r>
              <a:rPr sz="900" b="0">
                <a:solidFill>
                  <a:srgbClr val="5C6875"/>
                </a:solidFill>
                <a:latin typeface="微软雅黑" panose="020B0503020204020204" charset="-122"/>
              </a:rPr>
              <a:t>17</a:t>
            </a:r>
            <a:endParaRPr sz="9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383280" cy="658368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一期｜智能编码推荐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2336291"/>
            <a:ext cx="33832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buClrTx/>
              <a:buSzTx/>
              <a:buFontTx/>
            </a:pPr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• ICD-10 / ICD-9-CM-3</a:t>
            </a:r>
            <a:br>
              <a:rPr sz="13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医学术语标准化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RAG知识库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编码规则库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AI推荐 + 人工审核</a:t>
            </a:r>
            <a:endParaRPr sz="13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4870450"/>
            <a:ext cx="3383280" cy="59436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6385C"/>
                </a:solidFill>
                <a:latin typeface="微软雅黑" panose="020B0503020204020204" charset="-122"/>
              </a:rPr>
              <a:t>人工查编码 → AI辅助编码</a:t>
            </a:r>
            <a:endParaRPr sz="14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9" name="Connector 8"/>
          <p:cNvCxnSpPr/>
          <p:nvPr>
            <p:custDataLst>
              <p:tags r:id="rId1"/>
            </p:custDataLst>
          </p:nvPr>
        </p:nvCxnSpPr>
        <p:spPr>
          <a:xfrm>
            <a:off x="3886200" y="3315970"/>
            <a:ext cx="502920" cy="0"/>
          </a:xfrm>
          <a:prstGeom prst="line">
            <a:avLst/>
          </a:prstGeom>
          <a:ln w="2159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>
            <p:custDataLst>
              <p:tags r:id="rId2"/>
            </p:custDataLst>
          </p:nvPr>
        </p:nvSpPr>
        <p:spPr>
          <a:xfrm>
            <a:off x="4389120" y="1325880"/>
            <a:ext cx="3383280" cy="658368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二期｜全病历智能质控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3"/>
            </p:custDataLst>
          </p:nvPr>
        </p:nvSpPr>
        <p:spPr>
          <a:xfrm>
            <a:off x="4389120" y="2336291"/>
            <a:ext cx="33832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buClrTx/>
              <a:buSzTx/>
              <a:buFontTx/>
            </a:pPr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• 全病历语义分析</a:t>
            </a:r>
            <a:br>
              <a:rPr sz="13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一致性检查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漏编/错编检测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粒度检查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问题整改闭环</a:t>
            </a:r>
            <a:endParaRPr sz="13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4"/>
            </p:custDataLst>
          </p:nvPr>
        </p:nvSpPr>
        <p:spPr>
          <a:xfrm>
            <a:off x="4389120" y="4870450"/>
            <a:ext cx="3383280" cy="59436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6385C"/>
                </a:solidFill>
                <a:latin typeface="微软雅黑" panose="020B0503020204020204" charset="-122"/>
              </a:rPr>
              <a:t>辅助编码 → 智能质控</a:t>
            </a:r>
            <a:endParaRPr sz="14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>
            <p:custDataLst>
              <p:tags r:id="rId5"/>
            </p:custDataLst>
          </p:nvPr>
        </p:nvCxnSpPr>
        <p:spPr>
          <a:xfrm>
            <a:off x="7772400" y="3315970"/>
            <a:ext cx="502920" cy="0"/>
          </a:xfrm>
          <a:prstGeom prst="line">
            <a:avLst/>
          </a:prstGeom>
          <a:ln w="2159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>
            <p:custDataLst>
              <p:tags r:id="rId6"/>
            </p:custDataLst>
          </p:nvPr>
        </p:nvSpPr>
        <p:spPr>
          <a:xfrm>
            <a:off x="8275320" y="1325880"/>
            <a:ext cx="3383280" cy="658368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三期｜Agent智能分析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>
            <p:custDataLst>
              <p:tags r:id="rId7"/>
            </p:custDataLst>
          </p:nvPr>
        </p:nvSpPr>
        <p:spPr>
          <a:xfrm>
            <a:off x="8275320" y="2336291"/>
            <a:ext cx="3383280" cy="20116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buClrTx/>
              <a:buSzTx/>
              <a:buFontTx/>
            </a:pPr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• Agent任务编排</a:t>
            </a:r>
            <a:br>
              <a:rPr sz="1300" b="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自动证据检索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动态病历分析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主动发现问题</a:t>
            </a:r>
            <a:br>
              <a:rPr sz="1300">
                <a:solidFill>
                  <a:srgbClr val="232B34"/>
                </a:solidFill>
                <a:latin typeface="微软雅黑" panose="020B0503020204020204" charset="-122"/>
              </a:rPr>
            </a:br>
            <a:r>
              <a:rPr sz="1300">
                <a:solidFill>
                  <a:srgbClr val="232B34"/>
                </a:solidFill>
                <a:latin typeface="微软雅黑" panose="020B0503020204020204" charset="-122"/>
              </a:rPr>
              <a:t>• 自动触发重新编码</a:t>
            </a:r>
            <a:endParaRPr sz="130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8"/>
            </p:custDataLst>
          </p:nvPr>
        </p:nvSpPr>
        <p:spPr>
          <a:xfrm>
            <a:off x="8275320" y="4870450"/>
            <a:ext cx="3383280" cy="59436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6385C"/>
                </a:solidFill>
                <a:latin typeface="微软雅黑" panose="020B0503020204020204" charset="-122"/>
              </a:rPr>
              <a:t>系统响应 → 系统主动分析</a:t>
            </a:r>
            <a:endParaRPr sz="14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16385C"/>
                </a:solidFill>
                <a:latin typeface="微软雅黑" panose="020B0503020204020204" charset="-122"/>
              </a:rPr>
              <a:t>十七、项目价值：从“提高编码效率”走向“提升病案数据质量”</a:t>
            </a:r>
            <a:endParaRPr sz="27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5C6875"/>
                </a:solidFill>
                <a:latin typeface="微软雅黑" panose="020B0503020204020204" charset="-122"/>
              </a:rPr>
              <a:t>最终形成更加准确、完整、规范、可追溯的医疗编码数据</a:t>
            </a:r>
            <a:endParaRPr sz="11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914400" cy="54864"/>
          </a:xfrm>
          <a:prstGeom prst="rect">
            <a:avLst/>
          </a:prstGeom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r"/>
            <a:r>
              <a:rPr sz="900" b="0">
                <a:solidFill>
                  <a:srgbClr val="5C6875"/>
                </a:solidFill>
                <a:latin typeface="微软雅黑" panose="020B0503020204020204" charset="-122"/>
              </a:rPr>
              <a:t>18</a:t>
            </a:r>
            <a:endParaRPr sz="9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337560" cy="640080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效率提升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2039112"/>
            <a:ext cx="333756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减少查找编码、翻阅病历、重复核对与手工检索</a:t>
            </a:r>
            <a:endParaRPr sz="1300" b="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37560" cy="640080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准确性提升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89120" y="2039112"/>
            <a:ext cx="333756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医学语义 + 编码知识 + 规则 + 全病历证据</a:t>
            </a:r>
            <a:endParaRPr sz="1300" b="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75320" y="1325880"/>
            <a:ext cx="3337560" cy="640080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漏编减少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75320" y="2039112"/>
            <a:ext cx="333756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主动发现漏编疾病、并发症、手术及粒度不足</a:t>
            </a:r>
            <a:endParaRPr sz="1300" b="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3383280"/>
            <a:ext cx="3337560" cy="640080"/>
          </a:xfrm>
          <a:prstGeom prst="roundRect">
            <a:avLst/>
          </a:prstGeom>
          <a:solidFill>
            <a:srgbClr val="448F5B"/>
          </a:solidFill>
          <a:ln w="12700">
            <a:solidFill>
              <a:srgbClr val="448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质控提升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4096512"/>
            <a:ext cx="333756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从固定规则检查升级为全病历语义质控</a:t>
            </a:r>
            <a:endParaRPr sz="1300" b="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89120" y="3383280"/>
            <a:ext cx="3337560" cy="640080"/>
          </a:xfrm>
          <a:prstGeom prst="roundRect">
            <a:avLst/>
          </a:prstGeom>
          <a:solidFill>
            <a:srgbClr val="16385C"/>
          </a:solidFill>
          <a:ln w="12700">
            <a:solidFill>
              <a:srgbClr val="1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数据质量提升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89120" y="4096512"/>
            <a:ext cx="3337560" cy="105156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CB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32B34"/>
                </a:solidFill>
                <a:latin typeface="微软雅黑" panose="020B0503020204020204" charset="-122"/>
              </a:rPr>
              <a:t>为病案管理、医疗质量、运营分析、DRG/DIP相关管理提供更高质量数据基础</a:t>
            </a:r>
            <a:endParaRPr sz="1300" b="0">
              <a:solidFill>
                <a:srgbClr val="232B34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280160" y="5486400"/>
            <a:ext cx="9601200" cy="640080"/>
          </a:xfrm>
          <a:prstGeom prst="roundRect">
            <a:avLst/>
          </a:prstGeom>
          <a:solidFill>
            <a:srgbClr val="16385C"/>
          </a:solidFill>
          <a:ln w="12700">
            <a:solidFill>
              <a:srgbClr val="1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 panose="020B0503020204020204" charset="-122"/>
              </a:rPr>
              <a:t>人工查找 → AI理解 → AI检索 → AI推理 → AI质控 → 人工确认</a:t>
            </a:r>
            <a:endParaRPr sz="1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16385C"/>
                </a:solidFill>
                <a:latin typeface="微软雅黑" panose="020B0503020204020204" charset="-122"/>
              </a:rPr>
              <a:t>十八、最终定位：医院级AI医疗编码智能辅助平台</a:t>
            </a:r>
            <a:endParaRPr sz="27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5C6875"/>
                </a:solidFill>
                <a:latin typeface="微软雅黑" panose="020B0503020204020204" charset="-122"/>
              </a:rPr>
              <a:t>不是简单的“智能查编码工具”，而是一套面向医院病案编码工作的AI智能辅助平台</a:t>
            </a:r>
            <a:endParaRPr sz="11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914400" cy="54864"/>
          </a:xfrm>
          <a:prstGeom prst="rect">
            <a:avLst/>
          </a:prstGeom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r"/>
            <a:r>
              <a:rPr sz="900" b="0">
                <a:solidFill>
                  <a:srgbClr val="5C6875"/>
                </a:solidFill>
                <a:latin typeface="微软雅黑" panose="020B0503020204020204" charset="-122"/>
              </a:rPr>
              <a:t>19</a:t>
            </a:r>
            <a:endParaRPr sz="9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60520" y="1234440"/>
            <a:ext cx="3886200" cy="640080"/>
          </a:xfrm>
          <a:prstGeom prst="roundRect">
            <a:avLst/>
          </a:prstGeom>
          <a:solidFill>
            <a:srgbClr val="16385C"/>
          </a:solidFill>
          <a:ln w="12700">
            <a:solidFill>
              <a:srgbClr val="1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微软雅黑" panose="020B0503020204020204" charset="-122"/>
              </a:rPr>
              <a:t>医疗大模型</a:t>
            </a:r>
            <a:endParaRPr sz="2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 flipH="1">
            <a:off x="2103120" y="1874519"/>
            <a:ext cx="3977640" cy="457201"/>
          </a:xfrm>
          <a:prstGeom prst="line">
            <a:avLst/>
          </a:prstGeom>
          <a:ln w="21590">
            <a:solidFill>
              <a:srgbClr val="277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" y="2331720"/>
            <a:ext cx="2834640" cy="685800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智能编码推荐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 flipH="1">
            <a:off x="5989320" y="1874519"/>
            <a:ext cx="91440" cy="457201"/>
          </a:xfrm>
          <a:prstGeom prst="line">
            <a:avLst/>
          </a:prstGeom>
          <a:ln w="21590">
            <a:solidFill>
              <a:srgbClr val="1F85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0" y="2331720"/>
            <a:ext cx="2834640" cy="685800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全病历智能质控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1874519"/>
            <a:ext cx="3794760" cy="457201"/>
          </a:xfrm>
          <a:prstGeom prst="line">
            <a:avLst/>
          </a:prstGeom>
          <a:ln w="21590">
            <a:solidFill>
              <a:srgbClr val="E085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58200" y="2331720"/>
            <a:ext cx="2834640" cy="685800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Agent智能分析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97280" y="3657600"/>
            <a:ext cx="9966960" cy="685800"/>
          </a:xfrm>
          <a:prstGeom prst="roundRect">
            <a:avLst/>
          </a:prstGeom>
          <a:solidFill>
            <a:srgbClr val="EBF4FC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solidFill>
                  <a:srgbClr val="16385C"/>
                </a:solidFill>
                <a:latin typeface="微软雅黑" panose="020B0503020204020204" charset="-122"/>
              </a:rPr>
              <a:t>统一数据 + 医学知识 + RAG检索 + 编码规则 + AI推理 + Agent</a:t>
            </a:r>
            <a:endParaRPr sz="17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3017520"/>
            <a:ext cx="0" cy="640080"/>
          </a:xfrm>
          <a:prstGeom prst="line">
            <a:avLst/>
          </a:prstGeom>
          <a:ln w="1905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51960" y="4572000"/>
            <a:ext cx="3657600" cy="594360"/>
          </a:xfrm>
          <a:prstGeom prst="roundRect">
            <a:avLst/>
          </a:prstGeom>
          <a:solidFill>
            <a:srgbClr val="16385C"/>
          </a:solidFill>
          <a:ln w="12700">
            <a:solidFill>
              <a:srgbClr val="16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人工审核确认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4343400"/>
            <a:ext cx="0" cy="228600"/>
          </a:xfrm>
          <a:prstGeom prst="line">
            <a:avLst/>
          </a:prstGeom>
          <a:ln w="19050">
            <a:solidFill>
              <a:srgbClr val="5C68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26080" y="5440680"/>
            <a:ext cx="6309360" cy="64008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6385C"/>
                </a:solidFill>
                <a:latin typeface="微软雅黑" panose="020B0503020204020204" charset="-122"/>
              </a:rPr>
              <a:t>最终编码 / 质控闭环 / 可追溯审计</a:t>
            </a:r>
            <a:endParaRPr sz="18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673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2700" b="1">
                <a:solidFill>
                  <a:srgbClr val="16385C"/>
                </a:solidFill>
                <a:latin typeface="微软雅黑" panose="020B0503020204020204" charset="-122"/>
              </a:rPr>
              <a:t>十九、总结</a:t>
            </a:r>
            <a:endParaRPr sz="27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47472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l"/>
            <a:r>
              <a:rPr sz="1100" b="0">
                <a:solidFill>
                  <a:srgbClr val="5C6875"/>
                </a:solidFill>
                <a:latin typeface="微软雅黑" panose="020B0503020204020204" charset="-122"/>
              </a:rPr>
              <a:t>围绕三大业务，建设统一AI底座，最终实现从被动查询到主动分析</a:t>
            </a:r>
            <a:endParaRPr sz="11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914400" cy="54864"/>
          </a:xfrm>
          <a:prstGeom prst="rect">
            <a:avLst/>
          </a:prstGeom>
          <a:solidFill>
            <a:srgbClr val="27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r"/>
            <a:r>
              <a:rPr sz="900" b="0">
                <a:solidFill>
                  <a:srgbClr val="5C6875"/>
                </a:solidFill>
                <a:latin typeface="微软雅黑" panose="020B0503020204020204" charset="-122"/>
              </a:rPr>
              <a:t>20</a:t>
            </a:r>
            <a:endParaRPr sz="9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1014984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900" b="1">
                <a:solidFill>
                  <a:srgbClr val="16385C"/>
                </a:solidFill>
                <a:latin typeface="微软雅黑" panose="020B0503020204020204" charset="-122"/>
              </a:rPr>
              <a:t>通过医疗大模型、医学知识库、RAG检索、编码规则和Agent技术，</a:t>
            </a:r>
            <a:endParaRPr sz="19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14984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900" b="0">
                <a:solidFill>
                  <a:srgbClr val="5C6875"/>
                </a:solidFill>
                <a:latin typeface="微软雅黑" panose="020B0503020204020204" charset="-122"/>
              </a:rPr>
              <a:t>将传统“关键词匹配 + 人工编码 + 固定规则质控”</a:t>
            </a:r>
            <a:endParaRPr sz="19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149840" cy="4114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700" b="1">
                <a:solidFill>
                  <a:srgbClr val="2770BE"/>
                </a:solidFill>
                <a:latin typeface="微软雅黑" panose="020B0503020204020204" charset="-122"/>
              </a:rPr>
              <a:t>升级为</a:t>
            </a:r>
            <a:endParaRPr sz="1700" b="1">
              <a:solidFill>
                <a:srgbClr val="2770BE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10515600" cy="59436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2300" b="1">
                <a:solidFill>
                  <a:srgbClr val="16385C"/>
                </a:solidFill>
                <a:latin typeface="微软雅黑" panose="020B0503020204020204" charset="-122"/>
              </a:rPr>
              <a:t>“全病历语义理解 + 智能编码推荐 + 主动质控 + 智能补充分析”</a:t>
            </a:r>
            <a:endParaRPr sz="2300" b="1">
              <a:solidFill>
                <a:srgbClr val="16385C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97280" y="4617720"/>
            <a:ext cx="2880360" cy="640080"/>
          </a:xfrm>
          <a:prstGeom prst="roundRect">
            <a:avLst/>
          </a:prstGeom>
          <a:solidFill>
            <a:srgbClr val="2770BE"/>
          </a:solidFill>
          <a:ln w="12700">
            <a:solidFill>
              <a:srgbClr val="277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智能编码推荐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663440" y="4617720"/>
            <a:ext cx="2880360" cy="640080"/>
          </a:xfrm>
          <a:prstGeom prst="roundRect">
            <a:avLst/>
          </a:prstGeom>
          <a:solidFill>
            <a:srgbClr val="1F858B"/>
          </a:solidFill>
          <a:ln w="12700">
            <a:solidFill>
              <a:srgbClr val="1F8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全病历智能质控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0" y="4617720"/>
            <a:ext cx="2880360" cy="640080"/>
          </a:xfrm>
          <a:prstGeom prst="roundRect">
            <a:avLst/>
          </a:prstGeom>
          <a:solidFill>
            <a:srgbClr val="E08530"/>
          </a:solidFill>
          <a:ln w="12700">
            <a:solidFill>
              <a:srgbClr val="E085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</a:rPr>
              <a:t>Agent智能分析</a:t>
            </a:r>
            <a:endParaRPr sz="1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10424160" cy="4572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 algn="ctr"/>
            <a:r>
              <a:rPr sz="1500" b="0">
                <a:solidFill>
                  <a:srgbClr val="5C6875"/>
                </a:solidFill>
                <a:latin typeface="微软雅黑" panose="020B0503020204020204" charset="-122"/>
              </a:rPr>
              <a:t>最终形成：AI理解病历、AI辅助编码、AI主动质控、人工最终决策的新型医疗编码工作模式。</a:t>
            </a:r>
            <a:endParaRPr sz="1500" b="0">
              <a:solidFill>
                <a:srgbClr val="5C687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6.35,&quot;left&quot;:39.6,&quot;top&quot;:104.4,&quot;width&quot;:886.32}"/>
</p:tagLst>
</file>

<file path=ppt/tags/tag2.xml><?xml version="1.0" encoding="utf-8"?>
<p:tagLst xmlns:p="http://schemas.openxmlformats.org/presentationml/2006/main">
  <p:tag name="KSO_WM_DIAGRAM_VIRTUALLY_FRAME" val="{&quot;height&quot;:256.35,&quot;left&quot;:39.6,&quot;top&quot;:104.4,&quot;width&quot;:886.32}"/>
</p:tagLst>
</file>

<file path=ppt/tags/tag3.xml><?xml version="1.0" encoding="utf-8"?>
<p:tagLst xmlns:p="http://schemas.openxmlformats.org/presentationml/2006/main">
  <p:tag name="KSO_WM_DIAGRAM_VIRTUALLY_FRAME" val="{&quot;height&quot;:256.35,&quot;left&quot;:39.6,&quot;top&quot;:104.4,&quot;width&quot;:886.32}"/>
</p:tagLst>
</file>

<file path=ppt/tags/tag4.xml><?xml version="1.0" encoding="utf-8"?>
<p:tagLst xmlns:p="http://schemas.openxmlformats.org/presentationml/2006/main">
  <p:tag name="KSO_WM_DIAGRAM_VIRTUALLY_FRAME" val="{&quot;height&quot;:256.35,&quot;left&quot;:39.6,&quot;top&quot;:104.4,&quot;width&quot;:886.32}"/>
</p:tagLst>
</file>

<file path=ppt/tags/tag5.xml><?xml version="1.0" encoding="utf-8"?>
<p:tagLst xmlns:p="http://schemas.openxmlformats.org/presentationml/2006/main">
  <p:tag name="KSO_WM_DIAGRAM_VIRTUALLY_FRAME" val="{&quot;height&quot;:256.35,&quot;left&quot;:39.6,&quot;top&quot;:104.4,&quot;width&quot;:886.32}"/>
</p:tagLst>
</file>

<file path=ppt/tags/tag6.xml><?xml version="1.0" encoding="utf-8"?>
<p:tagLst xmlns:p="http://schemas.openxmlformats.org/presentationml/2006/main">
  <p:tag name="KSO_WM_DIAGRAM_VIRTUALLY_FRAME" val="{&quot;height&quot;:256.35,&quot;left&quot;:39.6,&quot;top&quot;:104.4,&quot;width&quot;:886.32}"/>
</p:tagLst>
</file>

<file path=ppt/tags/tag7.xml><?xml version="1.0" encoding="utf-8"?>
<p:tagLst xmlns:p="http://schemas.openxmlformats.org/presentationml/2006/main">
  <p:tag name="KSO_WM_DIAGRAM_VIRTUALLY_FRAME" val="{&quot;height&quot;:208.8,&quot;left&quot;:43.2,&quot;top&quot;:111.6,&quot;width&quot;:849.6}"/>
</p:tagLst>
</file>

<file path=ppt/tags/tag8.xml><?xml version="1.0" encoding="utf-8"?>
<p:tagLst xmlns:p="http://schemas.openxmlformats.org/presentationml/2006/main">
  <p:tag name="KSO_WM_DIAGRAM_VIRTUALLY_FRAME" val="{&quot;height&quot;:208.8,&quot;left&quot;:43.2,&quot;top&quot;:111.6,&quot;width&quot;:849.6}"/>
</p:tagLst>
</file>

<file path=ppt/tags/tag9.xml><?xml version="1.0" encoding="utf-8"?>
<p:tagLst xmlns:p="http://schemas.openxmlformats.org/presentationml/2006/main">
  <p:tag name="KSO_WM_DIAGRAM_VIRTUALLY_FRAME" val="{&quot;height&quot;:208.8,&quot;left&quot;:43.2,&quot;top&quot;:111.6,&quot;width&quot;:849.6}"/>
</p:tagLst>
</file>

<file path=ppt/tags/tag10.xml><?xml version="1.0" encoding="utf-8"?>
<p:tagLst xmlns:p="http://schemas.openxmlformats.org/presentationml/2006/main">
  <p:tag name="KSO_WM_DIAGRAM_VIRTUALLY_FRAME" val="{&quot;height&quot;:208.8,&quot;left&quot;:43.2,&quot;top&quot;:111.6,&quot;width&quot;:849.6}"/>
</p:tagLst>
</file>

<file path=ppt/tags/tag11.xml><?xml version="1.0" encoding="utf-8"?>
<p:tagLst xmlns:p="http://schemas.openxmlformats.org/presentationml/2006/main">
  <p:tag name="KSO_WM_DIAGRAM_VIRTUALLY_FRAME" val="{&quot;height&quot;:208.8,&quot;left&quot;:43.2,&quot;top&quot;:111.6,&quot;width&quot;:849.6}"/>
</p:tagLst>
</file>

<file path=ppt/tags/tag12.xml><?xml version="1.0" encoding="utf-8"?>
<p:tagLst xmlns:p="http://schemas.openxmlformats.org/presentationml/2006/main">
  <p:tag name="KSO_WM_DIAGRAM_VIRTUALLY_FRAME" val="{&quot;height&quot;:208.8,&quot;left&quot;:43.2,&quot;top&quot;:111.6,&quot;width&quot;:849.6}"/>
</p:tagLst>
</file>

<file path=ppt/tags/tag13.xml><?xml version="1.0" encoding="utf-8"?>
<p:tagLst xmlns:p="http://schemas.openxmlformats.org/presentationml/2006/main">
  <p:tag name="KSO_WM_DIAGRAM_VIRTUALLY_FRAME" val="{&quot;height&quot;:208.8,&quot;left&quot;:43.2,&quot;top&quot;:111.6,&quot;width&quot;:849.6}"/>
</p:tagLst>
</file>

<file path=ppt/tags/tag14.xml><?xml version="1.0" encoding="utf-8"?>
<p:tagLst xmlns:p="http://schemas.openxmlformats.org/presentationml/2006/main">
  <p:tag name="KSO_WM_DIAGRAM_VIRTUALLY_FRAME" val="{&quot;height&quot;:208.8,&quot;left&quot;:43.2,&quot;top&quot;:111.6,&quot;width&quot;:849.6}"/>
</p:tagLst>
</file>

<file path=ppt/tags/tag15.xml><?xml version="1.0" encoding="utf-8"?>
<p:tagLst xmlns:p="http://schemas.openxmlformats.org/presentationml/2006/main">
  <p:tag name="KSO_WM_DIAGRAM_VIRTUALLY_FRAME" val="{&quot;height&quot;:208.8,&quot;left&quot;:43.2,&quot;top&quot;:111.6,&quot;width&quot;:849.6}"/>
</p:tagLst>
</file>

<file path=ppt/tags/tag16.xml><?xml version="1.0" encoding="utf-8"?>
<p:tagLst xmlns:p="http://schemas.openxmlformats.org/presentationml/2006/main">
  <p:tag name="KSO_WM_DIAGRAM_VIRTUALLY_FRAME" val="{&quot;height&quot;:208.8,&quot;left&quot;:43.2,&quot;top&quot;:111.6,&quot;width&quot;:849.6}"/>
</p:tagLst>
</file>

<file path=ppt/tags/tag17.xml><?xml version="1.0" encoding="utf-8"?>
<p:tagLst xmlns:p="http://schemas.openxmlformats.org/presentationml/2006/main">
  <p:tag name="KSO_WM_DIAGRAM_VIRTUALLY_FRAME" val="{&quot;height&quot;:208.8,&quot;left&quot;:43.2,&quot;top&quot;:111.6,&quot;width&quot;:849.6}"/>
</p:tagLst>
</file>

<file path=ppt/tags/tag18.xml><?xml version="1.0" encoding="utf-8"?>
<p:tagLst xmlns:p="http://schemas.openxmlformats.org/presentationml/2006/main">
  <p:tag name="KSO_WM_DIAGRAM_VIRTUALLY_FRAME" val="{&quot;height&quot;:241.2,&quot;left&quot;:46.8,&quot;top&quot;:111.6,&quot;width&quot;:860.4}"/>
</p:tagLst>
</file>

<file path=ppt/tags/tag19.xml><?xml version="1.0" encoding="utf-8"?>
<p:tagLst xmlns:p="http://schemas.openxmlformats.org/presentationml/2006/main">
  <p:tag name="KSO_WM_DIAGRAM_VIRTUALLY_FRAME" val="{&quot;height&quot;:241.2,&quot;left&quot;:46.8,&quot;top&quot;:111.6,&quot;width&quot;:860.4}"/>
</p:tagLst>
</file>

<file path=ppt/tags/tag20.xml><?xml version="1.0" encoding="utf-8"?>
<p:tagLst xmlns:p="http://schemas.openxmlformats.org/presentationml/2006/main">
  <p:tag name="KSO_WM_DIAGRAM_VIRTUALLY_FRAME" val="{&quot;height&quot;:241.2,&quot;left&quot;:46.8,&quot;top&quot;:111.6,&quot;width&quot;:860.4}"/>
</p:tagLst>
</file>

<file path=ppt/tags/tag21.xml><?xml version="1.0" encoding="utf-8"?>
<p:tagLst xmlns:p="http://schemas.openxmlformats.org/presentationml/2006/main">
  <p:tag name="KSO_WM_DIAGRAM_VIRTUALLY_FRAME" val="{&quot;height&quot;:241.2,&quot;left&quot;:46.8,&quot;top&quot;:111.6,&quot;width&quot;:860.4}"/>
</p:tagLst>
</file>

<file path=ppt/tags/tag22.xml><?xml version="1.0" encoding="utf-8"?>
<p:tagLst xmlns:p="http://schemas.openxmlformats.org/presentationml/2006/main">
  <p:tag name="KSO_WM_DIAGRAM_VIRTUALLY_FRAME" val="{&quot;height&quot;:241.2,&quot;left&quot;:46.8,&quot;top&quot;:111.6,&quot;width&quot;:860.4}"/>
</p:tagLst>
</file>

<file path=ppt/tags/tag23.xml><?xml version="1.0" encoding="utf-8"?>
<p:tagLst xmlns:p="http://schemas.openxmlformats.org/presentationml/2006/main">
  <p:tag name="KSO_WM_DIAGRAM_VIRTUALLY_FRAME" val="{&quot;height&quot;:241.2,&quot;left&quot;:46.8,&quot;top&quot;:111.6,&quot;width&quot;:860.4}"/>
</p:tagLst>
</file>

<file path=ppt/tags/tag24.xml><?xml version="1.0" encoding="utf-8"?>
<p:tagLst xmlns:p="http://schemas.openxmlformats.org/presentationml/2006/main">
  <p:tag name="KSO_WM_DIAGRAM_VIRTUALLY_FRAME" val="{&quot;height&quot;:325.9,&quot;left&quot;:306,&quot;top&quot;:104.4,&quot;width&quot;:612}"/>
</p:tagLst>
</file>

<file path=ppt/tags/tag25.xml><?xml version="1.0" encoding="utf-8"?>
<p:tagLst xmlns:p="http://schemas.openxmlformats.org/presentationml/2006/main">
  <p:tag name="KSO_WM_DIAGRAM_VIRTUALLY_FRAME" val="{&quot;height&quot;:325.9,&quot;left&quot;:306,&quot;top&quot;:104.4,&quot;width&quot;:612}"/>
</p:tagLst>
</file>

<file path=ppt/tags/tag26.xml><?xml version="1.0" encoding="utf-8"?>
<p:tagLst xmlns:p="http://schemas.openxmlformats.org/presentationml/2006/main">
  <p:tag name="KSO_WM_DIAGRAM_VIRTUALLY_FRAME" val="{&quot;height&quot;:325.9,&quot;left&quot;:306,&quot;top&quot;:104.4,&quot;width&quot;:612}"/>
</p:tagLst>
</file>

<file path=ppt/tags/tag27.xml><?xml version="1.0" encoding="utf-8"?>
<p:tagLst xmlns:p="http://schemas.openxmlformats.org/presentationml/2006/main">
  <p:tag name="KSO_WM_DIAGRAM_VIRTUALLY_FRAME" val="{&quot;height&quot;:325.9,&quot;left&quot;:306,&quot;top&quot;:104.4,&quot;width&quot;:612}"/>
</p:tagLst>
</file>

<file path=ppt/tags/tag28.xml><?xml version="1.0" encoding="utf-8"?>
<p:tagLst xmlns:p="http://schemas.openxmlformats.org/presentationml/2006/main">
  <p:tag name="KSO_WM_DIAGRAM_VIRTUALLY_FRAME" val="{&quot;height&quot;:325.9,&quot;left&quot;:306,&quot;top&quot;:104.4,&quot;width&quot;:612}"/>
</p:tagLst>
</file>

<file path=ppt/tags/tag29.xml><?xml version="1.0" encoding="utf-8"?>
<p:tagLst xmlns:p="http://schemas.openxmlformats.org/presentationml/2006/main">
  <p:tag name="KSO_WM_DIAGRAM_VIRTUALLY_FRAME" val="{&quot;height&quot;:325.9,&quot;left&quot;:306,&quot;top&quot;:104.4,&quot;width&quot;:612}"/>
</p:tagLst>
</file>

<file path=ppt/tags/tag30.xml><?xml version="1.0" encoding="utf-8"?>
<p:tagLst xmlns:p="http://schemas.openxmlformats.org/presentationml/2006/main">
  <p:tag name="KSO_WM_DIAGRAM_VIRTUALLY_FRAME" val="{&quot;height&quot;:325.9,&quot;left&quot;:306,&quot;top&quot;:104.4,&quot;width&quot;:612}"/>
</p:tagLst>
</file>

<file path=ppt/tags/tag31.xml><?xml version="1.0" encoding="utf-8"?>
<p:tagLst xmlns:p="http://schemas.openxmlformats.org/presentationml/2006/main">
  <p:tag name="KSO_WM_DIAGRAM_VIRTUALLY_FRAME" val="{&quot;height&quot;:325.9,&quot;left&quot;:306,&quot;top&quot;:104.4,&quot;width&quot;:61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4272</Words>
  <Application>WPS 演示</Application>
  <PresentationFormat>On-screen Show (4:3)</PresentationFormat>
  <Paragraphs>605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夏沐风</cp:lastModifiedBy>
  <cp:revision>19</cp:revision>
  <dcterms:created xsi:type="dcterms:W3CDTF">2013-01-27T09:14:00Z</dcterms:created>
  <dcterms:modified xsi:type="dcterms:W3CDTF">2026-09-09T10:53:08Z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5676BB08A89C445DAC02034DF6CBB73F_12</vt:lpwstr>
  </property>
</Properties>
</file>